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9" r:id="rId3"/>
    <p:sldId id="293" r:id="rId4"/>
    <p:sldId id="281" r:id="rId5"/>
    <p:sldId id="260" r:id="rId6"/>
    <p:sldId id="261" r:id="rId7"/>
    <p:sldId id="262" r:id="rId8"/>
    <p:sldId id="303" r:id="rId9"/>
    <p:sldId id="263" r:id="rId10"/>
    <p:sldId id="290" r:id="rId11"/>
    <p:sldId id="288" r:id="rId12"/>
    <p:sldId id="269" r:id="rId13"/>
    <p:sldId id="298" r:id="rId14"/>
    <p:sldId id="297" r:id="rId15"/>
    <p:sldId id="311" r:id="rId16"/>
    <p:sldId id="291" r:id="rId17"/>
    <p:sldId id="292" r:id="rId18"/>
    <p:sldId id="306" r:id="rId19"/>
    <p:sldId id="304" r:id="rId20"/>
    <p:sldId id="305" r:id="rId21"/>
    <p:sldId id="308" r:id="rId22"/>
    <p:sldId id="310" r:id="rId23"/>
    <p:sldId id="307" r:id="rId24"/>
    <p:sldId id="278" r:id="rId25"/>
    <p:sldId id="279" r:id="rId26"/>
    <p:sldId id="280" r:id="rId2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0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89014" autoAdjust="0"/>
  </p:normalViewPr>
  <p:slideViewPr>
    <p:cSldViewPr>
      <p:cViewPr>
        <p:scale>
          <a:sx n="50" d="100"/>
          <a:sy n="50" d="100"/>
        </p:scale>
        <p:origin x="1253" y="34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218DB-768F-4A45-BB17-64E4619C5721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6DC15-1FE8-4983-AC65-4127BAFB0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24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l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22/06/2026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 dir="l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7.svg"/><Relationship Id="rId3" Type="http://schemas.openxmlformats.org/officeDocument/2006/relationships/image" Target="../media/image10.svg"/><Relationship Id="rId7" Type="http://schemas.openxmlformats.org/officeDocument/2006/relationships/image" Target="../media/image6.sv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5.svg"/><Relationship Id="rId5" Type="http://schemas.openxmlformats.org/officeDocument/2006/relationships/image" Target="../media/image12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3.png"/><Relationship Id="rId7" Type="http://schemas.openxmlformats.org/officeDocument/2006/relationships/image" Target="../media/image2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5" Type="http://schemas.openxmlformats.org/officeDocument/2006/relationships/image" Target="../media/image30.sv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6.svg"/><Relationship Id="rId7" Type="http://schemas.openxmlformats.org/officeDocument/2006/relationships/image" Target="../media/image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10" Type="http://schemas.openxmlformats.org/officeDocument/2006/relationships/image" Target="../media/image39.png"/><Relationship Id="rId4" Type="http://schemas.openxmlformats.org/officeDocument/2006/relationships/image" Target="../media/image29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28.svg"/><Relationship Id="rId7" Type="http://schemas.openxmlformats.org/officeDocument/2006/relationships/image" Target="../media/image13.png"/><Relationship Id="rId12" Type="http://schemas.openxmlformats.org/officeDocument/2006/relationships/image" Target="../media/image5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6.png"/><Relationship Id="rId5" Type="http://schemas.openxmlformats.org/officeDocument/2006/relationships/image" Target="../media/image32.svg"/><Relationship Id="rId10" Type="http://schemas.openxmlformats.org/officeDocument/2006/relationships/image" Target="../media/image55.png"/><Relationship Id="rId4" Type="http://schemas.openxmlformats.org/officeDocument/2006/relationships/image" Target="../media/image31.png"/><Relationship Id="rId9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41.svg"/><Relationship Id="rId7" Type="http://schemas.openxmlformats.org/officeDocument/2006/relationships/image" Target="../media/image1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0.svg"/><Relationship Id="rId10" Type="http://schemas.openxmlformats.org/officeDocument/2006/relationships/image" Target="../media/image30.svg"/><Relationship Id="rId4" Type="http://schemas.openxmlformats.org/officeDocument/2006/relationships/image" Target="../media/image59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1.svg"/><Relationship Id="rId7" Type="http://schemas.openxmlformats.org/officeDocument/2006/relationships/image" Target="../media/image1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41.svg"/><Relationship Id="rId7" Type="http://schemas.openxmlformats.org/officeDocument/2006/relationships/image" Target="../media/image1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41.svg"/><Relationship Id="rId7" Type="http://schemas.openxmlformats.org/officeDocument/2006/relationships/image" Target="../media/image1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0.svg"/><Relationship Id="rId10" Type="http://schemas.openxmlformats.org/officeDocument/2006/relationships/image" Target="../media/image30.svg"/><Relationship Id="rId4" Type="http://schemas.openxmlformats.org/officeDocument/2006/relationships/image" Target="../media/image59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1.svg"/><Relationship Id="rId7" Type="http://schemas.openxmlformats.org/officeDocument/2006/relationships/image" Target="../media/image1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0.sv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3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6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74.svg"/><Relationship Id="rId7" Type="http://schemas.openxmlformats.org/officeDocument/2006/relationships/image" Target="../media/image1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41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6.svg"/><Relationship Id="rId7" Type="http://schemas.openxmlformats.org/officeDocument/2006/relationships/image" Target="../media/image78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10.sv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0.svg"/><Relationship Id="rId7" Type="http://schemas.openxmlformats.org/officeDocument/2006/relationships/image" Target="../media/image6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79794" y="-380291"/>
            <a:ext cx="2816989" cy="2961355"/>
          </a:xfrm>
          <a:custGeom>
            <a:avLst/>
            <a:gdLst/>
            <a:ahLst/>
            <a:cxnLst/>
            <a:rect l="l" t="t" r="r" b="b"/>
            <a:pathLst>
              <a:path w="2816989" h="2961355">
                <a:moveTo>
                  <a:pt x="0" y="2961355"/>
                </a:moveTo>
                <a:lnTo>
                  <a:pt x="2816988" y="2961355"/>
                </a:lnTo>
                <a:lnTo>
                  <a:pt x="2816988" y="0"/>
                </a:lnTo>
                <a:lnTo>
                  <a:pt x="0" y="0"/>
                </a:lnTo>
                <a:lnTo>
                  <a:pt x="0" y="29613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216320" y="-380291"/>
            <a:ext cx="4085960" cy="3973596"/>
          </a:xfrm>
          <a:custGeom>
            <a:avLst/>
            <a:gdLst/>
            <a:ahLst/>
            <a:cxnLst/>
            <a:rect l="l" t="t" r="r" b="b"/>
            <a:pathLst>
              <a:path w="4085960" h="3973596">
                <a:moveTo>
                  <a:pt x="0" y="3973595"/>
                </a:moveTo>
                <a:lnTo>
                  <a:pt x="4085960" y="3973595"/>
                </a:lnTo>
                <a:lnTo>
                  <a:pt x="4085960" y="0"/>
                </a:lnTo>
                <a:lnTo>
                  <a:pt x="0" y="0"/>
                </a:lnTo>
                <a:lnTo>
                  <a:pt x="0" y="39735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" y="9900666"/>
            <a:ext cx="2643405" cy="658368"/>
          </a:xfrm>
          <a:custGeom>
            <a:avLst/>
            <a:gdLst/>
            <a:ahLst/>
            <a:cxnLst/>
            <a:rect l="l" t="t" r="r" b="b"/>
            <a:pathLst>
              <a:path w="7315200" h="658368">
                <a:moveTo>
                  <a:pt x="0" y="0"/>
                </a:moveTo>
                <a:lnTo>
                  <a:pt x="7315200" y="0"/>
                </a:lnTo>
                <a:lnTo>
                  <a:pt x="7315200" y="658368"/>
                </a:lnTo>
                <a:lnTo>
                  <a:pt x="0" y="658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6734"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1225329" y="9900666"/>
            <a:ext cx="7315200" cy="658368"/>
          </a:xfrm>
          <a:custGeom>
            <a:avLst/>
            <a:gdLst/>
            <a:ahLst/>
            <a:cxnLst/>
            <a:rect l="l" t="t" r="r" b="b"/>
            <a:pathLst>
              <a:path w="7315200" h="658368">
                <a:moveTo>
                  <a:pt x="7315200" y="0"/>
                </a:moveTo>
                <a:lnTo>
                  <a:pt x="0" y="0"/>
                </a:lnTo>
                <a:lnTo>
                  <a:pt x="0" y="658368"/>
                </a:lnTo>
                <a:lnTo>
                  <a:pt x="7315200" y="65836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9574" t="-1957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947252" y="228230"/>
            <a:ext cx="1621806" cy="1624401"/>
          </a:xfrm>
          <a:custGeom>
            <a:avLst/>
            <a:gdLst/>
            <a:ahLst/>
            <a:cxnLst/>
            <a:rect l="l" t="t" r="r" b="b"/>
            <a:pathLst>
              <a:path w="1621806" h="1624401">
                <a:moveTo>
                  <a:pt x="0" y="0"/>
                </a:moveTo>
                <a:lnTo>
                  <a:pt x="1621807" y="0"/>
                </a:lnTo>
                <a:lnTo>
                  <a:pt x="1621807" y="1624401"/>
                </a:lnTo>
                <a:lnTo>
                  <a:pt x="0" y="16244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716590" y="288185"/>
            <a:ext cx="1624401" cy="1624401"/>
          </a:xfrm>
          <a:custGeom>
            <a:avLst/>
            <a:gdLst/>
            <a:ahLst/>
            <a:cxnLst/>
            <a:rect l="l" t="t" r="r" b="b"/>
            <a:pathLst>
              <a:path w="1624401" h="1624401">
                <a:moveTo>
                  <a:pt x="0" y="0"/>
                </a:moveTo>
                <a:lnTo>
                  <a:pt x="1624401" y="0"/>
                </a:lnTo>
                <a:lnTo>
                  <a:pt x="1624401" y="1624402"/>
                </a:lnTo>
                <a:lnTo>
                  <a:pt x="0" y="16244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14054" y="4595911"/>
            <a:ext cx="13859888" cy="2518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0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TRÍCH XUẤT PHẢN ỨNG CÓ HẠI CỦA THUỐC TỪ DIỄN ĐÀN Y TẾ VÀ XÂY DỰNG </a:t>
            </a:r>
            <a:r>
              <a:rPr lang="en-US" sz="4000" b="1" dirty="0">
                <a:solidFill>
                  <a:srgbClr val="2450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 </a:t>
            </a:r>
            <a:r>
              <a:rPr lang="en-US" sz="40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THUỐC TÁC DỤNG PHỤ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23860" y="516890"/>
            <a:ext cx="6040279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TRƯỜNG ĐẠI HỌC NHA TRANG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60181" y="1039195"/>
            <a:ext cx="7367638" cy="58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KHOA CÔNG NGHỆ THÔNG TIN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868342" y="7334115"/>
            <a:ext cx="8551315" cy="2095702"/>
            <a:chOff x="0" y="-104775"/>
            <a:chExt cx="11401754" cy="2794269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04775"/>
              <a:ext cx="5336011" cy="2794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60"/>
                </a:lnSpc>
              </a:pP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Giảng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viên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hướng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dẫn</a:t>
              </a:r>
              <a:endPara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endParaRPr>
            </a:p>
            <a:p>
              <a:pPr algn="l">
                <a:lnSpc>
                  <a:spcPts val="4160"/>
                </a:lnSpc>
              </a:pP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Sinh </a:t>
              </a: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viên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thực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hiện</a:t>
              </a:r>
              <a:endPara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endParaRPr>
            </a:p>
            <a:p>
              <a:pPr algn="l">
                <a:lnSpc>
                  <a:spcPts val="4160"/>
                </a:lnSpc>
              </a:pP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Lớp</a:t>
              </a:r>
              <a:endPara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endParaRPr>
            </a:p>
            <a:p>
              <a:pPr algn="l">
                <a:lnSpc>
                  <a:spcPts val="4160"/>
                </a:lnSpc>
              </a:pP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Mã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số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sinh</a:t>
              </a: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viên</a:t>
              </a:r>
              <a:endPara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90948" y="-104775"/>
              <a:ext cx="5010806" cy="2794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60"/>
                </a:lnSpc>
              </a:pP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TS. Phạm Thị Thu </a:t>
              </a:r>
              <a:r>
                <a:rPr lang="en-US" sz="26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Thúy</a:t>
              </a:r>
              <a:endPara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endParaRPr>
            </a:p>
            <a:p>
              <a:pPr algn="l">
                <a:lnSpc>
                  <a:spcPts val="4160"/>
                </a:lnSpc>
              </a:pP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Huỳnh Xuân Nam</a:t>
              </a:r>
            </a:p>
            <a:p>
              <a:pPr algn="l">
                <a:lnSpc>
                  <a:spcPts val="4160"/>
                </a:lnSpc>
              </a:pP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64. CNTT - 2</a:t>
              </a:r>
            </a:p>
            <a:p>
              <a:pPr algn="l">
                <a:lnSpc>
                  <a:spcPts val="4160"/>
                </a:lnSpc>
              </a:pPr>
              <a:r>
                <a:rPr 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64131375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36011" y="-104775"/>
              <a:ext cx="677120" cy="2794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60"/>
                </a:lnSpc>
              </a:pPr>
              <a:r>
                <a:rPr lang="en-US" sz="2600" b="1">
                  <a:solidFill>
                    <a:srgbClr val="00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:</a:t>
              </a:r>
            </a:p>
            <a:p>
              <a:pPr algn="ctr">
                <a:lnSpc>
                  <a:spcPts val="4160"/>
                </a:lnSpc>
              </a:pPr>
              <a:r>
                <a:rPr lang="en-US" sz="2600" b="1">
                  <a:solidFill>
                    <a:srgbClr val="00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:</a:t>
              </a:r>
            </a:p>
            <a:p>
              <a:pPr algn="ctr">
                <a:lnSpc>
                  <a:spcPts val="4160"/>
                </a:lnSpc>
              </a:pPr>
              <a:r>
                <a:rPr lang="en-US" sz="2600" b="1">
                  <a:solidFill>
                    <a:srgbClr val="00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:</a:t>
              </a:r>
            </a:p>
            <a:p>
              <a:pPr algn="ctr">
                <a:lnSpc>
                  <a:spcPts val="4160"/>
                </a:lnSpc>
              </a:pPr>
              <a:r>
                <a:rPr lang="en-US" sz="2600" b="1">
                  <a:solidFill>
                    <a:srgbClr val="00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: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467600" y="3687692"/>
            <a:ext cx="2455523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b="1" u="sng" dirty="0">
                <a:solidFill>
                  <a:srgbClr val="0F346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ĐỀ TÀI</a:t>
            </a:r>
            <a:r>
              <a:rPr lang="en-US" sz="3899" b="1" dirty="0">
                <a:solidFill>
                  <a:srgbClr val="0F346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50316" y="2579436"/>
            <a:ext cx="8387365" cy="695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BÁO CÁO ĐỒ ÁN TỐT NGHIỆP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00" y="8833853"/>
            <a:ext cx="2066799" cy="2164188"/>
          </a:xfrm>
          <a:custGeom>
            <a:avLst/>
            <a:gdLst/>
            <a:ahLst/>
            <a:cxnLst/>
            <a:rect l="l" t="t" r="r" b="b"/>
            <a:pathLst>
              <a:path w="2066799" h="2164188">
                <a:moveTo>
                  <a:pt x="0" y="0"/>
                </a:moveTo>
                <a:lnTo>
                  <a:pt x="2066800" y="0"/>
                </a:lnTo>
                <a:lnTo>
                  <a:pt x="2066800" y="2164188"/>
                </a:lnTo>
                <a:lnTo>
                  <a:pt x="0" y="2164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67547" y="0"/>
            <a:ext cx="2220453" cy="2173269"/>
          </a:xfrm>
          <a:custGeom>
            <a:avLst/>
            <a:gdLst/>
            <a:ahLst/>
            <a:cxnLst/>
            <a:rect l="l" t="t" r="r" b="b"/>
            <a:pathLst>
              <a:path w="2220453" h="2173269">
                <a:moveTo>
                  <a:pt x="0" y="0"/>
                </a:moveTo>
                <a:lnTo>
                  <a:pt x="2220453" y="0"/>
                </a:lnTo>
                <a:lnTo>
                  <a:pt x="2220453" y="2173269"/>
                </a:lnTo>
                <a:lnTo>
                  <a:pt x="0" y="21732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750972" y="9915947"/>
            <a:ext cx="7315200" cy="658368"/>
          </a:xfrm>
          <a:custGeom>
            <a:avLst/>
            <a:gdLst/>
            <a:ahLst/>
            <a:cxnLst/>
            <a:rect l="l" t="t" r="r" b="b"/>
            <a:pathLst>
              <a:path w="7315200" h="658368">
                <a:moveTo>
                  <a:pt x="7315200" y="0"/>
                </a:moveTo>
                <a:lnTo>
                  <a:pt x="0" y="0"/>
                </a:lnTo>
                <a:lnTo>
                  <a:pt x="0" y="658368"/>
                </a:lnTo>
                <a:lnTo>
                  <a:pt x="7315200" y="65836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09468" y="509415"/>
            <a:ext cx="11269064" cy="1107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MỤC TIÊU NGHIÊN CỨU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9534" y="204944"/>
            <a:ext cx="2798184" cy="1388542"/>
            <a:chOff x="0" y="0"/>
            <a:chExt cx="3730912" cy="18513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905000" y="2414826"/>
            <a:ext cx="14478000" cy="5597686"/>
            <a:chOff x="0" y="-416332"/>
            <a:chExt cx="12833051" cy="7463580"/>
          </a:xfrm>
        </p:grpSpPr>
        <p:sp>
          <p:nvSpPr>
            <p:cNvPr id="7" name="Freeform 7"/>
            <p:cNvSpPr/>
            <p:nvPr/>
          </p:nvSpPr>
          <p:spPr>
            <a:xfrm>
              <a:off x="52035" y="0"/>
              <a:ext cx="577987" cy="640429"/>
            </a:xfrm>
            <a:custGeom>
              <a:avLst/>
              <a:gdLst/>
              <a:ahLst/>
              <a:cxnLst/>
              <a:rect l="l" t="t" r="r" b="b"/>
              <a:pathLst>
                <a:path w="577987" h="640429">
                  <a:moveTo>
                    <a:pt x="0" y="0"/>
                  </a:moveTo>
                  <a:lnTo>
                    <a:pt x="577987" y="0"/>
                  </a:lnTo>
                  <a:lnTo>
                    <a:pt x="577987" y="640429"/>
                  </a:lnTo>
                  <a:lnTo>
                    <a:pt x="0" y="64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2151881"/>
              <a:ext cx="630022" cy="640429"/>
            </a:xfrm>
            <a:custGeom>
              <a:avLst/>
              <a:gdLst/>
              <a:ahLst/>
              <a:cxnLst/>
              <a:rect l="l" t="t" r="r" b="b"/>
              <a:pathLst>
                <a:path w="630022" h="640429">
                  <a:moveTo>
                    <a:pt x="0" y="0"/>
                  </a:moveTo>
                  <a:lnTo>
                    <a:pt x="630022" y="0"/>
                  </a:lnTo>
                  <a:lnTo>
                    <a:pt x="630022" y="640429"/>
                  </a:lnTo>
                  <a:lnTo>
                    <a:pt x="0" y="64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1681" y="4474944"/>
              <a:ext cx="640429" cy="640429"/>
            </a:xfrm>
            <a:custGeom>
              <a:avLst/>
              <a:gdLst/>
              <a:ahLst/>
              <a:cxnLst/>
              <a:rect l="l" t="t" r="r" b="b"/>
              <a:pathLst>
                <a:path w="640429" h="640429">
                  <a:moveTo>
                    <a:pt x="0" y="0"/>
                  </a:moveTo>
                  <a:lnTo>
                    <a:pt x="640429" y="0"/>
                  </a:lnTo>
                  <a:lnTo>
                    <a:pt x="640429" y="640429"/>
                  </a:lnTo>
                  <a:lnTo>
                    <a:pt x="0" y="64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848132" y="-416332"/>
              <a:ext cx="11984919" cy="7463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999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Dùng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ontology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để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phân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biệt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Drug / Adverse Event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và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rích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xuất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thể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đàn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tế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thuốc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tác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phụ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endParaRPr>
            </a:p>
            <a:p>
              <a:pPr>
                <a:lnSpc>
                  <a:spcPts val="5999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Tạo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KG (Knowledge Graph): “drug → causes →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adverse_event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”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từ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văn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bản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,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hỗ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trợ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các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câu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truy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vấn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,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từ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đó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bổ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sung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thêm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ngữ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cảnh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,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ứng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dụng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chương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trình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.</a:t>
              </a:r>
            </a:p>
            <a:p>
              <a:pPr algn="l">
                <a:lnSpc>
                  <a:spcPts val="5999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So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sánh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đánh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giá</a:t>
              </a:r>
              <a:r>
                <a:rPr lang="vi-V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giữa các mô hình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với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vi-V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các chỉ số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Precision, Recall, F1-score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với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NER baseline, NER BERT, Relation Extraction,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đánh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giá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phân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tích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các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lỗi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,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kết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quả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chuẩn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hoá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trước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và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sau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có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từ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điển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ngoài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,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đánh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giá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bổ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sung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có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ngữ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cảnh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Faustina"/>
                  <a:cs typeface="Times New Roman" panose="02020603050405020304" pitchFamily="18" charset="0"/>
                  <a:sym typeface="Faustina"/>
                </a:rPr>
                <a:t>.</a:t>
              </a:r>
            </a:p>
          </p:txBody>
        </p:sp>
      </p:grpSp>
    </p:spTree>
  </p:cSld>
  <p:clrMapOvr>
    <a:masterClrMapping/>
  </p:clrMapOvr>
  <p:transition spd="slow">
    <p:cover dir="l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8">
            <a:extLst>
              <a:ext uri="{FF2B5EF4-FFF2-40B4-BE49-F238E27FC236}">
                <a16:creationId xmlns:a16="http://schemas.microsoft.com/office/drawing/2014/main" id="{080E8F76-3C59-4088-EAAF-88E869362F66}"/>
              </a:ext>
            </a:extLst>
          </p:cNvPr>
          <p:cNvGrpSpPr/>
          <p:nvPr/>
        </p:nvGrpSpPr>
        <p:grpSpPr>
          <a:xfrm>
            <a:off x="228600" y="25108"/>
            <a:ext cx="2798184" cy="1388542"/>
            <a:chOff x="0" y="0"/>
            <a:chExt cx="3730912" cy="1851389"/>
          </a:xfrm>
        </p:grpSpPr>
        <p:sp>
          <p:nvSpPr>
            <p:cNvPr id="10" name="Freeform 19">
              <a:extLst>
                <a:ext uri="{FF2B5EF4-FFF2-40B4-BE49-F238E27FC236}">
                  <a16:creationId xmlns:a16="http://schemas.microsoft.com/office/drawing/2014/main" id="{B0CFB4EA-7021-CB76-1D94-1D5BBC3DBE27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1" name="Freeform 20">
              <a:extLst>
                <a:ext uri="{FF2B5EF4-FFF2-40B4-BE49-F238E27FC236}">
                  <a16:creationId xmlns:a16="http://schemas.microsoft.com/office/drawing/2014/main" id="{D0749CA5-8DC8-359F-63C3-55FACA22216E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Freeform 2">
            <a:extLst>
              <a:ext uri="{FF2B5EF4-FFF2-40B4-BE49-F238E27FC236}">
                <a16:creationId xmlns:a16="http://schemas.microsoft.com/office/drawing/2014/main" id="{711C37C6-976B-14E1-C32A-F25ED23A5390}"/>
              </a:ext>
            </a:extLst>
          </p:cNvPr>
          <p:cNvSpPr/>
          <p:nvPr/>
        </p:nvSpPr>
        <p:spPr>
          <a:xfrm>
            <a:off x="-1251071" y="9026521"/>
            <a:ext cx="2520957" cy="2520957"/>
          </a:xfrm>
          <a:custGeom>
            <a:avLst/>
            <a:gdLst/>
            <a:ahLst/>
            <a:cxnLst/>
            <a:rect l="l" t="t" r="r" b="b"/>
            <a:pathLst>
              <a:path w="2520957" h="2520957">
                <a:moveTo>
                  <a:pt x="0" y="0"/>
                </a:moveTo>
                <a:lnTo>
                  <a:pt x="2520957" y="0"/>
                </a:lnTo>
                <a:lnTo>
                  <a:pt x="2520957" y="2520957"/>
                </a:lnTo>
                <a:lnTo>
                  <a:pt x="0" y="2520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60B3700E-D6FC-4657-BDCF-7C4957150C08}"/>
              </a:ext>
            </a:extLst>
          </p:cNvPr>
          <p:cNvSpPr/>
          <p:nvPr/>
        </p:nvSpPr>
        <p:spPr>
          <a:xfrm>
            <a:off x="17072920" y="-260269"/>
            <a:ext cx="2520957" cy="2520957"/>
          </a:xfrm>
          <a:custGeom>
            <a:avLst/>
            <a:gdLst/>
            <a:ahLst/>
            <a:cxnLst/>
            <a:rect l="l" t="t" r="r" b="b"/>
            <a:pathLst>
              <a:path w="2520957" h="2520957">
                <a:moveTo>
                  <a:pt x="0" y="0"/>
                </a:moveTo>
                <a:lnTo>
                  <a:pt x="2520957" y="0"/>
                </a:lnTo>
                <a:lnTo>
                  <a:pt x="2520957" y="2520957"/>
                </a:lnTo>
                <a:lnTo>
                  <a:pt x="0" y="2520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EAB7D4A3-7FE9-9676-DD78-2FC13D154D21}"/>
              </a:ext>
            </a:extLst>
          </p:cNvPr>
          <p:cNvGrpSpPr/>
          <p:nvPr/>
        </p:nvGrpSpPr>
        <p:grpSpPr>
          <a:xfrm rot="-5400000">
            <a:off x="17270954" y="9119166"/>
            <a:ext cx="896962" cy="1175230"/>
            <a:chOff x="0" y="0"/>
            <a:chExt cx="1195949" cy="156697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D961932-6A28-49E4-3B4A-6844242DB9FF}"/>
                </a:ext>
              </a:extLst>
            </p:cNvPr>
            <p:cNvSpPr/>
            <p:nvPr/>
          </p:nvSpPr>
          <p:spPr>
            <a:xfrm>
              <a:off x="0" y="706492"/>
              <a:ext cx="1195949" cy="860481"/>
            </a:xfrm>
            <a:custGeom>
              <a:avLst/>
              <a:gdLst/>
              <a:ahLst/>
              <a:cxnLst/>
              <a:rect l="l" t="t" r="r" b="b"/>
              <a:pathLst>
                <a:path w="1195949" h="860481">
                  <a:moveTo>
                    <a:pt x="0" y="0"/>
                  </a:moveTo>
                  <a:lnTo>
                    <a:pt x="1195949" y="0"/>
                  </a:lnTo>
                  <a:lnTo>
                    <a:pt x="1195949" y="860482"/>
                  </a:lnTo>
                  <a:lnTo>
                    <a:pt x="0" y="860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t="-62625" r="-57890" b="-56820"/>
              </a:stretch>
            </a:blipFill>
          </p:spPr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961056F5-17D9-C109-71E6-2C0CADBA8FBE}"/>
                </a:ext>
              </a:extLst>
            </p:cNvPr>
            <p:cNvSpPr/>
            <p:nvPr/>
          </p:nvSpPr>
          <p:spPr>
            <a:xfrm>
              <a:off x="0" y="0"/>
              <a:ext cx="1195949" cy="860481"/>
            </a:xfrm>
            <a:custGeom>
              <a:avLst/>
              <a:gdLst/>
              <a:ahLst/>
              <a:cxnLst/>
              <a:rect l="l" t="t" r="r" b="b"/>
              <a:pathLst>
                <a:path w="1195949" h="860481">
                  <a:moveTo>
                    <a:pt x="0" y="0"/>
                  </a:moveTo>
                  <a:lnTo>
                    <a:pt x="1195949" y="0"/>
                  </a:lnTo>
                  <a:lnTo>
                    <a:pt x="1195949" y="860481"/>
                  </a:lnTo>
                  <a:lnTo>
                    <a:pt x="0" y="86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t="-62625" r="-57890" b="-56820"/>
              </a:stretch>
            </a:blipFill>
          </p:spPr>
        </p:sp>
      </p:grpSp>
      <p:sp>
        <p:nvSpPr>
          <p:cNvPr id="25" name="TextBox 6">
            <a:extLst>
              <a:ext uri="{FF2B5EF4-FFF2-40B4-BE49-F238E27FC236}">
                <a16:creationId xmlns:a16="http://schemas.microsoft.com/office/drawing/2014/main" id="{80E27DAA-FD84-1BD8-C20B-F02F401F2632}"/>
              </a:ext>
            </a:extLst>
          </p:cNvPr>
          <p:cNvSpPr txBox="1"/>
          <p:nvPr/>
        </p:nvSpPr>
        <p:spPr>
          <a:xfrm>
            <a:off x="904450" y="193261"/>
            <a:ext cx="16479100" cy="1117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SƠ ĐỒ KIẾN TRÚC TỔNG THỂ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42F2C1-9D07-303D-D750-2151F58CBB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3236987"/>
            <a:ext cx="14959314" cy="6915714"/>
          </a:xfrm>
          <a:prstGeom prst="rect">
            <a:avLst/>
          </a:prstGeom>
        </p:spPr>
      </p:pic>
      <p:sp>
        <p:nvSpPr>
          <p:cNvPr id="27" name="TextBox 6">
            <a:extLst>
              <a:ext uri="{FF2B5EF4-FFF2-40B4-BE49-F238E27FC236}">
                <a16:creationId xmlns:a16="http://schemas.microsoft.com/office/drawing/2014/main" id="{7FFB79BE-633D-0623-4A33-FCC1924280D2}"/>
              </a:ext>
            </a:extLst>
          </p:cNvPr>
          <p:cNvSpPr txBox="1"/>
          <p:nvPr/>
        </p:nvSpPr>
        <p:spPr>
          <a:xfrm>
            <a:off x="1269886" y="1571907"/>
            <a:ext cx="15315142" cy="1506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Quy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xây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dựng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hệ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thống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từ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tiền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xử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lý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làm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sạch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dữ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liệu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thô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nhận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diện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thực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thể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trích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xuất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cặp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thực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thể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chuẩn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hoá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ontology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xây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dựng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triples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để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tạo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truy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vấn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tri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thức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đánh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giá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mô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8896539"/>
      </p:ext>
    </p:extLst>
  </p:cSld>
  <p:clrMapOvr>
    <a:masterClrMapping/>
  </p:clrMapOvr>
  <p:transition spd="slow">
    <p:cover dir="l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8C3020-52EB-C063-F839-B464664EEBC5}"/>
              </a:ext>
            </a:extLst>
          </p:cNvPr>
          <p:cNvSpPr/>
          <p:nvPr/>
        </p:nvSpPr>
        <p:spPr>
          <a:xfrm>
            <a:off x="185403" y="6571492"/>
            <a:ext cx="3535358" cy="1752600"/>
          </a:xfrm>
          <a:prstGeom prst="roundRect">
            <a:avLst/>
          </a:prstGeom>
          <a:solidFill>
            <a:srgbClr val="2450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7AE716-4906-9762-60CD-EAAA728E0A8E}"/>
              </a:ext>
            </a:extLst>
          </p:cNvPr>
          <p:cNvSpPr/>
          <p:nvPr/>
        </p:nvSpPr>
        <p:spPr>
          <a:xfrm>
            <a:off x="4433887" y="6632935"/>
            <a:ext cx="2971800" cy="1752600"/>
          </a:xfrm>
          <a:prstGeom prst="roundRect">
            <a:avLst/>
          </a:prstGeom>
          <a:solidFill>
            <a:srgbClr val="2450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D830A5-5F58-04F0-221F-FB487EBA84C0}"/>
              </a:ext>
            </a:extLst>
          </p:cNvPr>
          <p:cNvSpPr/>
          <p:nvPr/>
        </p:nvSpPr>
        <p:spPr>
          <a:xfrm>
            <a:off x="8110537" y="6648829"/>
            <a:ext cx="4348954" cy="1752600"/>
          </a:xfrm>
          <a:prstGeom prst="roundRect">
            <a:avLst/>
          </a:prstGeom>
          <a:solidFill>
            <a:srgbClr val="2450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trắng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CF5ED5-F4B4-D732-8094-D72B5E8ED543}"/>
              </a:ext>
            </a:extLst>
          </p:cNvPr>
          <p:cNvSpPr/>
          <p:nvPr/>
        </p:nvSpPr>
        <p:spPr>
          <a:xfrm>
            <a:off x="13145291" y="6632935"/>
            <a:ext cx="2971800" cy="1752600"/>
          </a:xfrm>
          <a:prstGeom prst="roundRect">
            <a:avLst/>
          </a:prstGeom>
          <a:solidFill>
            <a:srgbClr val="2450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Tokennization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D5CE4E-F362-42B4-FEF9-4EBE1A4CF3AC}"/>
              </a:ext>
            </a:extLst>
          </p:cNvPr>
          <p:cNvSpPr/>
          <p:nvPr/>
        </p:nvSpPr>
        <p:spPr>
          <a:xfrm>
            <a:off x="10668000" y="8820655"/>
            <a:ext cx="3196429" cy="1480632"/>
          </a:xfrm>
          <a:prstGeom prst="roundRect">
            <a:avLst/>
          </a:prstGeom>
          <a:solidFill>
            <a:srgbClr val="2450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Lưu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cadec_tienxuly.csv</a:t>
            </a:r>
          </a:p>
        </p:txBody>
      </p:sp>
      <p:grpSp>
        <p:nvGrpSpPr>
          <p:cNvPr id="9" name="Group 18">
            <a:extLst>
              <a:ext uri="{FF2B5EF4-FFF2-40B4-BE49-F238E27FC236}">
                <a16:creationId xmlns:a16="http://schemas.microsoft.com/office/drawing/2014/main" id="{080E8F76-3C59-4088-EAAF-88E869362F66}"/>
              </a:ext>
            </a:extLst>
          </p:cNvPr>
          <p:cNvGrpSpPr/>
          <p:nvPr/>
        </p:nvGrpSpPr>
        <p:grpSpPr>
          <a:xfrm>
            <a:off x="240814" y="103957"/>
            <a:ext cx="2798184" cy="1388542"/>
            <a:chOff x="0" y="0"/>
            <a:chExt cx="3730912" cy="1851389"/>
          </a:xfrm>
        </p:grpSpPr>
        <p:sp>
          <p:nvSpPr>
            <p:cNvPr id="10" name="Freeform 19">
              <a:extLst>
                <a:ext uri="{FF2B5EF4-FFF2-40B4-BE49-F238E27FC236}">
                  <a16:creationId xmlns:a16="http://schemas.microsoft.com/office/drawing/2014/main" id="{B0CFB4EA-7021-CB76-1D94-1D5BBC3DBE27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1" name="Freeform 20">
              <a:extLst>
                <a:ext uri="{FF2B5EF4-FFF2-40B4-BE49-F238E27FC236}">
                  <a16:creationId xmlns:a16="http://schemas.microsoft.com/office/drawing/2014/main" id="{D0749CA5-8DC8-359F-63C3-55FACA22216E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3" name="Freeform 3">
            <a:extLst>
              <a:ext uri="{FF2B5EF4-FFF2-40B4-BE49-F238E27FC236}">
                <a16:creationId xmlns:a16="http://schemas.microsoft.com/office/drawing/2014/main" id="{60B3700E-D6FC-4657-BDCF-7C4957150C08}"/>
              </a:ext>
            </a:extLst>
          </p:cNvPr>
          <p:cNvSpPr/>
          <p:nvPr/>
        </p:nvSpPr>
        <p:spPr>
          <a:xfrm>
            <a:off x="15767043" y="77110"/>
            <a:ext cx="2520957" cy="2520957"/>
          </a:xfrm>
          <a:custGeom>
            <a:avLst/>
            <a:gdLst/>
            <a:ahLst/>
            <a:cxnLst/>
            <a:rect l="l" t="t" r="r" b="b"/>
            <a:pathLst>
              <a:path w="2520957" h="2520957">
                <a:moveTo>
                  <a:pt x="0" y="0"/>
                </a:moveTo>
                <a:lnTo>
                  <a:pt x="2520957" y="0"/>
                </a:lnTo>
                <a:lnTo>
                  <a:pt x="2520957" y="2520957"/>
                </a:lnTo>
                <a:lnTo>
                  <a:pt x="0" y="2520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EAB7D4A3-7FE9-9676-DD78-2FC13D154D21}"/>
              </a:ext>
            </a:extLst>
          </p:cNvPr>
          <p:cNvGrpSpPr/>
          <p:nvPr/>
        </p:nvGrpSpPr>
        <p:grpSpPr>
          <a:xfrm rot="-5400000">
            <a:off x="17270954" y="9119166"/>
            <a:ext cx="896962" cy="1175230"/>
            <a:chOff x="0" y="0"/>
            <a:chExt cx="1195949" cy="156697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D961932-6A28-49E4-3B4A-6844242DB9FF}"/>
                </a:ext>
              </a:extLst>
            </p:cNvPr>
            <p:cNvSpPr/>
            <p:nvPr/>
          </p:nvSpPr>
          <p:spPr>
            <a:xfrm>
              <a:off x="0" y="706492"/>
              <a:ext cx="1195949" cy="860481"/>
            </a:xfrm>
            <a:custGeom>
              <a:avLst/>
              <a:gdLst/>
              <a:ahLst/>
              <a:cxnLst/>
              <a:rect l="l" t="t" r="r" b="b"/>
              <a:pathLst>
                <a:path w="1195949" h="860481">
                  <a:moveTo>
                    <a:pt x="0" y="0"/>
                  </a:moveTo>
                  <a:lnTo>
                    <a:pt x="1195949" y="0"/>
                  </a:lnTo>
                  <a:lnTo>
                    <a:pt x="1195949" y="860482"/>
                  </a:lnTo>
                  <a:lnTo>
                    <a:pt x="0" y="860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62625" r="-57890" b="-56820"/>
              </a:stretch>
            </a:blipFill>
          </p:spPr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961056F5-17D9-C109-71E6-2C0CADBA8FBE}"/>
                </a:ext>
              </a:extLst>
            </p:cNvPr>
            <p:cNvSpPr/>
            <p:nvPr/>
          </p:nvSpPr>
          <p:spPr>
            <a:xfrm>
              <a:off x="0" y="0"/>
              <a:ext cx="1195949" cy="860481"/>
            </a:xfrm>
            <a:custGeom>
              <a:avLst/>
              <a:gdLst/>
              <a:ahLst/>
              <a:cxnLst/>
              <a:rect l="l" t="t" r="r" b="b"/>
              <a:pathLst>
                <a:path w="1195949" h="860481">
                  <a:moveTo>
                    <a:pt x="0" y="0"/>
                  </a:moveTo>
                  <a:lnTo>
                    <a:pt x="1195949" y="0"/>
                  </a:lnTo>
                  <a:lnTo>
                    <a:pt x="1195949" y="860481"/>
                  </a:lnTo>
                  <a:lnTo>
                    <a:pt x="0" y="86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62625" r="-57890" b="-56820"/>
              </a:stretch>
            </a:blipFill>
          </p:spPr>
        </p:sp>
      </p:grp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FE4E722-0FAF-231C-E482-E951031BA77E}"/>
              </a:ext>
            </a:extLst>
          </p:cNvPr>
          <p:cNvSpPr/>
          <p:nvPr/>
        </p:nvSpPr>
        <p:spPr>
          <a:xfrm>
            <a:off x="3762849" y="7202091"/>
            <a:ext cx="685800" cy="381000"/>
          </a:xfrm>
          <a:prstGeom prst="rightArrow">
            <a:avLst>
              <a:gd name="adj1" fmla="val 28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8C7BCC2-5E50-88D4-7276-3F25B5212840}"/>
              </a:ext>
            </a:extLst>
          </p:cNvPr>
          <p:cNvSpPr/>
          <p:nvPr/>
        </p:nvSpPr>
        <p:spPr>
          <a:xfrm>
            <a:off x="7422356" y="7272013"/>
            <a:ext cx="685800" cy="381000"/>
          </a:xfrm>
          <a:prstGeom prst="rightArrow">
            <a:avLst>
              <a:gd name="adj1" fmla="val 28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3EAF3BF-BA3A-00A7-210F-D661F2CB8715}"/>
              </a:ext>
            </a:extLst>
          </p:cNvPr>
          <p:cNvSpPr/>
          <p:nvPr/>
        </p:nvSpPr>
        <p:spPr>
          <a:xfrm>
            <a:off x="12459491" y="7243748"/>
            <a:ext cx="685800" cy="381000"/>
          </a:xfrm>
          <a:prstGeom prst="rightArrow">
            <a:avLst>
              <a:gd name="adj1" fmla="val 28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37FCD69-1E02-92BF-F204-F4ACFE16EE97}"/>
              </a:ext>
            </a:extLst>
          </p:cNvPr>
          <p:cNvSpPr/>
          <p:nvPr/>
        </p:nvSpPr>
        <p:spPr>
          <a:xfrm flipH="1">
            <a:off x="13870957" y="9663081"/>
            <a:ext cx="685800" cy="381000"/>
          </a:xfrm>
          <a:prstGeom prst="rightArrow">
            <a:avLst>
              <a:gd name="adj1" fmla="val 28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F19302-A1D9-A44E-4A8B-DBEF7B633735}"/>
              </a:ext>
            </a:extLst>
          </p:cNvPr>
          <p:cNvSpPr/>
          <p:nvPr/>
        </p:nvSpPr>
        <p:spPr>
          <a:xfrm>
            <a:off x="14537846" y="8465372"/>
            <a:ext cx="45719" cy="142157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19BBF37C-666A-7569-297C-F27093FDB7F1}"/>
              </a:ext>
            </a:extLst>
          </p:cNvPr>
          <p:cNvSpPr txBox="1"/>
          <p:nvPr/>
        </p:nvSpPr>
        <p:spPr>
          <a:xfrm>
            <a:off x="510820" y="8618609"/>
            <a:ext cx="10157180" cy="1346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5599"/>
              </a:lnSpc>
            </a:pP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→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Dùng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làm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đầu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vào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cho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nhận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diện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thực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thể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(NER)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trong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phương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pháp</a:t>
            </a:r>
            <a:r>
              <a:rPr lang="en-US" sz="2800" b="1" dirty="0"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baseline.</a:t>
            </a:r>
          </a:p>
        </p:txBody>
      </p:sp>
      <p:grpSp>
        <p:nvGrpSpPr>
          <p:cNvPr id="26" name="Group 6">
            <a:extLst>
              <a:ext uri="{FF2B5EF4-FFF2-40B4-BE49-F238E27FC236}">
                <a16:creationId xmlns:a16="http://schemas.microsoft.com/office/drawing/2014/main" id="{0FD7FC77-1919-43D6-6246-C7ACA8F98C09}"/>
              </a:ext>
            </a:extLst>
          </p:cNvPr>
          <p:cNvGrpSpPr/>
          <p:nvPr/>
        </p:nvGrpSpPr>
        <p:grpSpPr>
          <a:xfrm>
            <a:off x="2368075" y="843482"/>
            <a:ext cx="12821054" cy="5893595"/>
            <a:chOff x="0" y="-57150"/>
            <a:chExt cx="2347596" cy="1528813"/>
          </a:xfrm>
        </p:grpSpPr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B4CF90AB-07DE-F725-55FD-B041C8763024}"/>
                </a:ext>
              </a:extLst>
            </p:cNvPr>
            <p:cNvSpPr/>
            <p:nvPr/>
          </p:nvSpPr>
          <p:spPr>
            <a:xfrm>
              <a:off x="127487" y="137932"/>
              <a:ext cx="2220109" cy="1023220"/>
            </a:xfrm>
            <a:custGeom>
              <a:avLst/>
              <a:gdLst/>
              <a:ahLst/>
              <a:cxnLst/>
              <a:rect l="l" t="t" r="r" b="b"/>
              <a:pathLst>
                <a:path w="2078096" h="1471663">
                  <a:moveTo>
                    <a:pt x="50041" y="0"/>
                  </a:moveTo>
                  <a:lnTo>
                    <a:pt x="2028055" y="0"/>
                  </a:lnTo>
                  <a:cubicBezTo>
                    <a:pt x="2041327" y="0"/>
                    <a:pt x="2054055" y="5272"/>
                    <a:pt x="2063440" y="14657"/>
                  </a:cubicBezTo>
                  <a:cubicBezTo>
                    <a:pt x="2072824" y="24041"/>
                    <a:pt x="2078096" y="36769"/>
                    <a:pt x="2078096" y="50041"/>
                  </a:cubicBezTo>
                  <a:lnTo>
                    <a:pt x="2078096" y="1421622"/>
                  </a:lnTo>
                  <a:cubicBezTo>
                    <a:pt x="2078096" y="1434893"/>
                    <a:pt x="2072824" y="1447621"/>
                    <a:pt x="2063440" y="1457006"/>
                  </a:cubicBezTo>
                  <a:cubicBezTo>
                    <a:pt x="2054055" y="1466391"/>
                    <a:pt x="2041327" y="1471663"/>
                    <a:pt x="2028055" y="1471663"/>
                  </a:cubicBezTo>
                  <a:lnTo>
                    <a:pt x="50041" y="1471663"/>
                  </a:lnTo>
                  <a:cubicBezTo>
                    <a:pt x="36769" y="1471663"/>
                    <a:pt x="24041" y="1466391"/>
                    <a:pt x="14657" y="1457006"/>
                  </a:cubicBezTo>
                  <a:cubicBezTo>
                    <a:pt x="5272" y="1447621"/>
                    <a:pt x="0" y="1434893"/>
                    <a:pt x="0" y="1421622"/>
                  </a:cubicBezTo>
                  <a:lnTo>
                    <a:pt x="0" y="50041"/>
                  </a:lnTo>
                  <a:cubicBezTo>
                    <a:pt x="0" y="36769"/>
                    <a:pt x="5272" y="24041"/>
                    <a:pt x="14657" y="14657"/>
                  </a:cubicBezTo>
                  <a:cubicBezTo>
                    <a:pt x="24041" y="5272"/>
                    <a:pt x="36769" y="0"/>
                    <a:pt x="50041" y="0"/>
                  </a:cubicBezTo>
                  <a:close/>
                </a:path>
              </a:pathLst>
            </a:custGeom>
            <a:solidFill>
              <a:srgbClr val="2450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C6B8BC31-856D-41BE-7FEE-7ABE6786399C}"/>
                </a:ext>
              </a:extLst>
            </p:cNvPr>
            <p:cNvSpPr txBox="1"/>
            <p:nvPr/>
          </p:nvSpPr>
          <p:spPr>
            <a:xfrm>
              <a:off x="0" y="-57150"/>
              <a:ext cx="2078096" cy="1528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3"/>
                </a:lnSpc>
              </a:pPr>
              <a:endParaRPr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20638F0-76FF-502E-3662-ABF48C178507}"/>
              </a:ext>
            </a:extLst>
          </p:cNvPr>
          <p:cNvSpPr txBox="1"/>
          <p:nvPr/>
        </p:nvSpPr>
        <p:spPr>
          <a:xfrm>
            <a:off x="3207538" y="1752018"/>
            <a:ext cx="11349219" cy="430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r>
              <a:rPr lang="vi-VN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Bộ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dữ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liệu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được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công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khai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tổng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số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1250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tài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liệu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mỗi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thư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mục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.</a:t>
            </a:r>
          </a:p>
          <a:p>
            <a:pPr marL="604518" lvl="1" indent="-302259">
              <a:lnSpc>
                <a:spcPts val="5599"/>
              </a:lnSpc>
              <a:buFont typeface="Arial"/>
              <a:buChar char="•"/>
            </a:pPr>
            <a:r>
              <a:rPr lang="vi-VN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Bộ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dữ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liệu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từ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corpus CADEC,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vốn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được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xây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dựng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từ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các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bài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đăng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trên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diễn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đàn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y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tế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.</a:t>
            </a:r>
            <a:r>
              <a:rPr lang="vi-VN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endParaRPr lang="en-US" sz="2800" dirty="0">
              <a:solidFill>
                <a:srgbClr val="FFFFFF"/>
              </a:solidFill>
              <a:latin typeface="Times New Roman" panose="02020603050405020304" pitchFamily="18" charset="0"/>
              <a:ea typeface="Faustina"/>
              <a:cs typeface="Times New Roman" panose="02020603050405020304" pitchFamily="18" charset="0"/>
              <a:sym typeface="Faustina"/>
            </a:endParaRPr>
          </a:p>
          <a:p>
            <a:pPr marL="604518" lvl="1" indent="-302259">
              <a:lnSpc>
                <a:spcPts val="5599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Trong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đó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thư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mục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original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gán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nhãn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annotation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các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từ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gốc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mô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tả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thuốc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và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tác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dụng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phụ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.</a:t>
            </a:r>
          </a:p>
          <a:p>
            <a:pPr marL="604518" lvl="1" indent="-302259">
              <a:lnSpc>
                <a:spcPts val="5599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Thư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mục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text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lưu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trữ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nội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dung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văn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bản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gốc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từ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người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dùng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austina"/>
                <a:cs typeface="Times New Roman" panose="02020603050405020304" pitchFamily="18" charset="0"/>
                <a:sym typeface="Faustina"/>
              </a:rPr>
              <a:t>.</a:t>
            </a: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36F2C6D4-80A6-7392-3508-6CB5E6B7C81E}"/>
              </a:ext>
            </a:extLst>
          </p:cNvPr>
          <p:cNvSpPr txBox="1"/>
          <p:nvPr/>
        </p:nvSpPr>
        <p:spPr>
          <a:xfrm>
            <a:off x="245567" y="5675323"/>
            <a:ext cx="9165343" cy="57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000" b="1" dirty="0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Quy </a:t>
            </a:r>
            <a:r>
              <a:rPr lang="en-US" sz="3000" b="1" dirty="0" err="1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trình</a:t>
            </a:r>
            <a:r>
              <a:rPr lang="en-US" sz="3000" b="1" dirty="0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tiền</a:t>
            </a:r>
            <a:r>
              <a:rPr lang="en-US" sz="3000" b="1" dirty="0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xử</a:t>
            </a:r>
            <a:r>
              <a:rPr lang="en-US" sz="3000" b="1" dirty="0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lý</a:t>
            </a:r>
            <a:r>
              <a:rPr lang="en-US" sz="3000" b="1" dirty="0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dữ</a:t>
            </a:r>
            <a:r>
              <a:rPr lang="en-US" sz="3000" b="1" dirty="0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liệu</a:t>
            </a:r>
            <a:endParaRPr lang="en-US" sz="3000" b="1" dirty="0"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3EEBB71F-B50E-C004-7241-7501C0C7C674}"/>
              </a:ext>
            </a:extLst>
          </p:cNvPr>
          <p:cNvSpPr txBox="1"/>
          <p:nvPr/>
        </p:nvSpPr>
        <p:spPr>
          <a:xfrm>
            <a:off x="2228864" y="175627"/>
            <a:ext cx="14383621" cy="1107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DỮ LIỆU ĐẦU VÀO DATASET</a:t>
            </a:r>
          </a:p>
        </p:txBody>
      </p:sp>
    </p:spTree>
    <p:extLst>
      <p:ext uri="{BB962C8B-B14F-4D97-AF65-F5344CB8AC3E}">
        <p14:creationId xmlns:p14="http://schemas.microsoft.com/office/powerpoint/2010/main" val="428093856"/>
      </p:ext>
    </p:extLst>
  </p:cSld>
  <p:clrMapOvr>
    <a:masterClrMapping/>
  </p:clrMapOvr>
  <p:transition spd="slow">
    <p:cover dir="l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8400" y="368633"/>
            <a:ext cx="15168512" cy="905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PHƯƠNG PHÁP NHẬN DIỆN THỰC THỂ</a:t>
            </a:r>
          </a:p>
        </p:txBody>
      </p:sp>
      <p:sp>
        <p:nvSpPr>
          <p:cNvPr id="3" name="Freeform 3"/>
          <p:cNvSpPr/>
          <p:nvPr/>
        </p:nvSpPr>
        <p:spPr>
          <a:xfrm>
            <a:off x="16605129" y="-554292"/>
            <a:ext cx="2572875" cy="2751738"/>
          </a:xfrm>
          <a:custGeom>
            <a:avLst/>
            <a:gdLst/>
            <a:ahLst/>
            <a:cxnLst/>
            <a:rect l="l" t="t" r="r" b="b"/>
            <a:pathLst>
              <a:path w="2572875" h="2751738">
                <a:moveTo>
                  <a:pt x="0" y="0"/>
                </a:moveTo>
                <a:lnTo>
                  <a:pt x="2572875" y="0"/>
                </a:lnTo>
                <a:lnTo>
                  <a:pt x="2572875" y="2751738"/>
                </a:lnTo>
                <a:lnTo>
                  <a:pt x="0" y="27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8575" y="102115"/>
            <a:ext cx="2798184" cy="1388542"/>
            <a:chOff x="0" y="0"/>
            <a:chExt cx="3730912" cy="18513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" name="TextBox 6">
            <a:extLst>
              <a:ext uri="{FF2B5EF4-FFF2-40B4-BE49-F238E27FC236}">
                <a16:creationId xmlns:a16="http://schemas.microsoft.com/office/drawing/2014/main" id="{F00690B9-A1AA-DB29-642E-ECD4F748C98B}"/>
              </a:ext>
            </a:extLst>
          </p:cNvPr>
          <p:cNvSpPr txBox="1"/>
          <p:nvPr/>
        </p:nvSpPr>
        <p:spPr>
          <a:xfrm>
            <a:off x="396433" y="2502064"/>
            <a:ext cx="16748567" cy="2315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+ NER baseline: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nhận diện thực thể dựa trên từ điển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(Dictionary matching).</a:t>
            </a:r>
          </a:p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Ư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u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điểm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đơn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giản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không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cần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huấn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luyện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mô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tốc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độ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xử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lý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nhanh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Nhược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điểm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k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hông phát hiện được thực thể mới chưa có trong từ điển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chưa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khai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được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ngữ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cảnh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68800CDB-5248-E83A-F701-76F5E091EEC4}"/>
              </a:ext>
            </a:extLst>
          </p:cNvPr>
          <p:cNvSpPr txBox="1"/>
          <p:nvPr/>
        </p:nvSpPr>
        <p:spPr>
          <a:xfrm>
            <a:off x="381000" y="6166338"/>
            <a:ext cx="16764000" cy="1802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+ NER BERT: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xây dựng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BERT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bài toán token classification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Ư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u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điểm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hiểu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ngữ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cảnh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không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thuộc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từ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điển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hiệu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với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dữ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liệu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y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sinh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Nhược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điểm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thuộc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chất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lượng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gán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nhãn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Tokenization,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tiêu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tốn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tài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nguyên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cao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</p:txBody>
      </p:sp>
    </p:spTree>
  </p:cSld>
  <p:clrMapOvr>
    <a:masterClrMapping/>
  </p:clrMapOvr>
  <p:transition spd="slow">
    <p:cover dir="l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764605" y="8724900"/>
            <a:ext cx="1988278" cy="2126501"/>
          </a:xfrm>
          <a:custGeom>
            <a:avLst/>
            <a:gdLst/>
            <a:ahLst/>
            <a:cxnLst/>
            <a:rect l="l" t="t" r="r" b="b"/>
            <a:pathLst>
              <a:path w="1988278" h="2126501">
                <a:moveTo>
                  <a:pt x="0" y="2126501"/>
                </a:moveTo>
                <a:lnTo>
                  <a:pt x="1988278" y="2126501"/>
                </a:lnTo>
                <a:lnTo>
                  <a:pt x="1988278" y="0"/>
                </a:lnTo>
                <a:lnTo>
                  <a:pt x="0" y="0"/>
                </a:lnTo>
                <a:lnTo>
                  <a:pt x="0" y="21265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10134" y="39010"/>
            <a:ext cx="1974988" cy="2126501"/>
          </a:xfrm>
          <a:custGeom>
            <a:avLst/>
            <a:gdLst/>
            <a:ahLst/>
            <a:cxnLst/>
            <a:rect l="l" t="t" r="r" b="b"/>
            <a:pathLst>
              <a:path w="1974988" h="2126501">
                <a:moveTo>
                  <a:pt x="0" y="0"/>
                </a:moveTo>
                <a:lnTo>
                  <a:pt x="1974988" y="0"/>
                </a:lnTo>
                <a:lnTo>
                  <a:pt x="1974988" y="2126501"/>
                </a:lnTo>
                <a:lnTo>
                  <a:pt x="0" y="2126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456322" y="9223750"/>
            <a:ext cx="3657600" cy="1911096"/>
          </a:xfrm>
          <a:custGeom>
            <a:avLst/>
            <a:gdLst/>
            <a:ahLst/>
            <a:cxnLst/>
            <a:rect l="l" t="t" r="r" b="b"/>
            <a:pathLst>
              <a:path w="3657600" h="1911096">
                <a:moveTo>
                  <a:pt x="0" y="0"/>
                </a:moveTo>
                <a:lnTo>
                  <a:pt x="3657600" y="0"/>
                </a:lnTo>
                <a:lnTo>
                  <a:pt x="3657600" y="1911096"/>
                </a:lnTo>
                <a:lnTo>
                  <a:pt x="0" y="19110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64024" y="266959"/>
            <a:ext cx="11606628" cy="1107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PHƯƠNG PHÁP NER BASELINE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0600" y="1689134"/>
            <a:ext cx="2867856" cy="689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3200" b="1" dirty="0" err="1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Kết</a:t>
            </a:r>
            <a:r>
              <a:rPr lang="en-US" sz="32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200" b="1" dirty="0" err="1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quả</a:t>
            </a:r>
            <a:r>
              <a:rPr lang="en-US" sz="32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: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29534" y="204944"/>
            <a:ext cx="2798184" cy="1388542"/>
            <a:chOff x="0" y="0"/>
            <a:chExt cx="3730912" cy="1851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20D38EB-8E7B-D55E-0FF2-C1065EC689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2058" y="4022290"/>
            <a:ext cx="15910142" cy="554177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3241569-7838-2CB9-20A4-2208CA3BDE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2058" y="2712050"/>
            <a:ext cx="15910142" cy="1476429"/>
          </a:xfrm>
          <a:prstGeom prst="rect">
            <a:avLst/>
          </a:prstGeom>
        </p:spPr>
      </p:pic>
    </p:spTree>
  </p:cSld>
  <p:clrMapOvr>
    <a:masterClrMapping/>
  </p:clrMapOvr>
  <p:transition spd="slow">
    <p:cover dir="l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4563" y="3421951"/>
            <a:ext cx="461378" cy="379483"/>
          </a:xfrm>
          <a:custGeom>
            <a:avLst/>
            <a:gdLst/>
            <a:ahLst/>
            <a:cxnLst/>
            <a:rect l="l" t="t" r="r" b="b"/>
            <a:pathLst>
              <a:path w="461378" h="379483">
                <a:moveTo>
                  <a:pt x="0" y="0"/>
                </a:moveTo>
                <a:lnTo>
                  <a:pt x="461377" y="0"/>
                </a:lnTo>
                <a:lnTo>
                  <a:pt x="461377" y="379483"/>
                </a:lnTo>
                <a:lnTo>
                  <a:pt x="0" y="379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41409" y="8989154"/>
            <a:ext cx="1778367" cy="1884362"/>
          </a:xfrm>
          <a:custGeom>
            <a:avLst/>
            <a:gdLst/>
            <a:ahLst/>
            <a:cxnLst/>
            <a:rect l="l" t="t" r="r" b="b"/>
            <a:pathLst>
              <a:path w="1778367" h="1884362">
                <a:moveTo>
                  <a:pt x="0" y="0"/>
                </a:moveTo>
                <a:lnTo>
                  <a:pt x="1778366" y="0"/>
                </a:lnTo>
                <a:lnTo>
                  <a:pt x="1778366" y="1884362"/>
                </a:lnTo>
                <a:lnTo>
                  <a:pt x="0" y="1884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218554" y="-329184"/>
            <a:ext cx="7315200" cy="658368"/>
          </a:xfrm>
          <a:custGeom>
            <a:avLst/>
            <a:gdLst/>
            <a:ahLst/>
            <a:cxnLst/>
            <a:rect l="l" t="t" r="r" b="b"/>
            <a:pathLst>
              <a:path w="7315200" h="658368">
                <a:moveTo>
                  <a:pt x="7315200" y="0"/>
                </a:moveTo>
                <a:lnTo>
                  <a:pt x="0" y="0"/>
                </a:lnTo>
                <a:lnTo>
                  <a:pt x="0" y="658368"/>
                </a:lnTo>
                <a:lnTo>
                  <a:pt x="7315200" y="65836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767" t="-45011" r="-34243"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850571" y="9848103"/>
            <a:ext cx="7315200" cy="658368"/>
          </a:xfrm>
          <a:custGeom>
            <a:avLst/>
            <a:gdLst/>
            <a:ahLst/>
            <a:cxnLst/>
            <a:rect l="l" t="t" r="r" b="b"/>
            <a:pathLst>
              <a:path w="7315200" h="658368">
                <a:moveTo>
                  <a:pt x="7315200" y="0"/>
                </a:moveTo>
                <a:lnTo>
                  <a:pt x="0" y="0"/>
                </a:lnTo>
                <a:lnTo>
                  <a:pt x="0" y="658368"/>
                </a:lnTo>
                <a:lnTo>
                  <a:pt x="7315200" y="65836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767" t="-45011" r="-3424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75315" y="435237"/>
            <a:ext cx="15737334" cy="905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PHƯƠNG PHÁP TRÍCH XUẤT QUAN HỆ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160" y="204944"/>
            <a:ext cx="2798184" cy="1388542"/>
            <a:chOff x="0" y="0"/>
            <a:chExt cx="3730912" cy="18513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1" name="TextBox 6">
            <a:extLst>
              <a:ext uri="{FF2B5EF4-FFF2-40B4-BE49-F238E27FC236}">
                <a16:creationId xmlns:a16="http://schemas.microsoft.com/office/drawing/2014/main" id="{7E1DE300-2AEB-27BD-A80A-07749761BE91}"/>
              </a:ext>
            </a:extLst>
          </p:cNvPr>
          <p:cNvSpPr txBox="1"/>
          <p:nvPr/>
        </p:nvSpPr>
        <p:spPr>
          <a:xfrm>
            <a:off x="1174563" y="2341142"/>
            <a:ext cx="16224254" cy="2161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Relation Extraction: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phương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pháp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Co-occurrence-based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thuốc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E877A8FD-727A-9323-57F5-E943D61A74FC}"/>
              </a:ext>
            </a:extLst>
          </p:cNvPr>
          <p:cNvSpPr txBox="1"/>
          <p:nvPr/>
        </p:nvSpPr>
        <p:spPr>
          <a:xfrm>
            <a:off x="1146591" y="5972716"/>
            <a:ext cx="16224254" cy="1648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Mở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rộng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Relation Extraction: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phương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pháp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(dựa trên luật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 matching)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thuốc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cover dir="l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9A4AD-A962-80F8-4DFA-7683DC6F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80A170-6F16-70D8-18CC-D7FC022DBE83}"/>
              </a:ext>
            </a:extLst>
          </p:cNvPr>
          <p:cNvSpPr/>
          <p:nvPr/>
        </p:nvSpPr>
        <p:spPr>
          <a:xfrm rot="16200000" flipV="1">
            <a:off x="-190478" y="9951189"/>
            <a:ext cx="1988278" cy="2126501"/>
          </a:xfrm>
          <a:custGeom>
            <a:avLst/>
            <a:gdLst/>
            <a:ahLst/>
            <a:cxnLst/>
            <a:rect l="l" t="t" r="r" b="b"/>
            <a:pathLst>
              <a:path w="1988278" h="2126501">
                <a:moveTo>
                  <a:pt x="0" y="2126501"/>
                </a:moveTo>
                <a:lnTo>
                  <a:pt x="1988278" y="2126501"/>
                </a:lnTo>
                <a:lnTo>
                  <a:pt x="1988278" y="0"/>
                </a:lnTo>
                <a:lnTo>
                  <a:pt x="0" y="0"/>
                </a:lnTo>
                <a:lnTo>
                  <a:pt x="0" y="21265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7290F8D-C77B-EA1A-0859-5ADA6AD097CE}"/>
              </a:ext>
            </a:extLst>
          </p:cNvPr>
          <p:cNvSpPr/>
          <p:nvPr/>
        </p:nvSpPr>
        <p:spPr>
          <a:xfrm>
            <a:off x="17018247" y="35900"/>
            <a:ext cx="1974988" cy="2126501"/>
          </a:xfrm>
          <a:custGeom>
            <a:avLst/>
            <a:gdLst/>
            <a:ahLst/>
            <a:cxnLst/>
            <a:rect l="l" t="t" r="r" b="b"/>
            <a:pathLst>
              <a:path w="1974988" h="2126501">
                <a:moveTo>
                  <a:pt x="0" y="0"/>
                </a:moveTo>
                <a:lnTo>
                  <a:pt x="1974988" y="0"/>
                </a:lnTo>
                <a:lnTo>
                  <a:pt x="1974988" y="2126501"/>
                </a:lnTo>
                <a:lnTo>
                  <a:pt x="0" y="2126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C2606B7-2634-ED58-98D5-EB385F0BBBEE}"/>
              </a:ext>
            </a:extLst>
          </p:cNvPr>
          <p:cNvSpPr/>
          <p:nvPr/>
        </p:nvSpPr>
        <p:spPr>
          <a:xfrm>
            <a:off x="17297628" y="9629515"/>
            <a:ext cx="3657600" cy="1911096"/>
          </a:xfrm>
          <a:custGeom>
            <a:avLst/>
            <a:gdLst/>
            <a:ahLst/>
            <a:cxnLst/>
            <a:rect l="l" t="t" r="r" b="b"/>
            <a:pathLst>
              <a:path w="3657600" h="1911096">
                <a:moveTo>
                  <a:pt x="0" y="0"/>
                </a:moveTo>
                <a:lnTo>
                  <a:pt x="3657600" y="0"/>
                </a:lnTo>
                <a:lnTo>
                  <a:pt x="3657600" y="1911096"/>
                </a:lnTo>
                <a:lnTo>
                  <a:pt x="0" y="19110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A2F5264-7438-A8DC-A9FF-77B4A30EDBFB}"/>
              </a:ext>
            </a:extLst>
          </p:cNvPr>
          <p:cNvSpPr txBox="1"/>
          <p:nvPr/>
        </p:nvSpPr>
        <p:spPr>
          <a:xfrm>
            <a:off x="2921766" y="-83161"/>
            <a:ext cx="14109564" cy="2364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PHƯƠNG PHÁP RELATION EXTRACTION (</a:t>
            </a:r>
            <a:r>
              <a:rPr lang="en-US" sz="6000" b="1" dirty="0">
                <a:solidFill>
                  <a:srgbClr val="2450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Co-occurrence-based Re</a:t>
            </a: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) 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C5B318D-03E8-4E32-4993-81724247E8FA}"/>
              </a:ext>
            </a:extLst>
          </p:cNvPr>
          <p:cNvSpPr txBox="1"/>
          <p:nvPr/>
        </p:nvSpPr>
        <p:spPr>
          <a:xfrm>
            <a:off x="0" y="1780579"/>
            <a:ext cx="2545080" cy="683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3000" b="1" dirty="0" err="1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Kết</a:t>
            </a:r>
            <a:r>
              <a:rPr lang="en-US" sz="30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000" b="1" dirty="0" err="1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quả</a:t>
            </a:r>
            <a:r>
              <a:rPr lang="en-US" sz="30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:</a:t>
            </a: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52AE321-160C-9417-8563-301610F5A6C9}"/>
              </a:ext>
            </a:extLst>
          </p:cNvPr>
          <p:cNvGrpSpPr/>
          <p:nvPr/>
        </p:nvGrpSpPr>
        <p:grpSpPr>
          <a:xfrm>
            <a:off x="110499" y="55338"/>
            <a:ext cx="2798184" cy="1388542"/>
            <a:chOff x="0" y="0"/>
            <a:chExt cx="3730912" cy="185138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99E0C1D-CD47-E748-23F2-DE99CEF31AE3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CB55BE0-2D6B-F92A-4019-3675F450BD99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87E24F7-11CA-D377-5590-F84DB4ADBD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288" y="2838775"/>
            <a:ext cx="16766340" cy="693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87247"/>
      </p:ext>
    </p:extLst>
  </p:cSld>
  <p:clrMapOvr>
    <a:masterClrMapping/>
  </p:clrMapOvr>
  <p:transition spd="slow">
    <p:cover dir="l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64641" y="8212023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83513" y="-67915"/>
            <a:ext cx="15245068" cy="2364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ĐÁNH GIÁ MÔ HÌNH BASELINE NER VÀ BERT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3610" y="0"/>
            <a:ext cx="2798184" cy="1388542"/>
            <a:chOff x="0" y="0"/>
            <a:chExt cx="3730912" cy="18513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D558954-05DC-E551-FEDA-1E960D7E0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9484" y="1239203"/>
            <a:ext cx="8645984" cy="6353794"/>
          </a:xfrm>
          <a:prstGeom prst="rect">
            <a:avLst/>
          </a:prstGeom>
        </p:spPr>
      </p:pic>
      <p:grpSp>
        <p:nvGrpSpPr>
          <p:cNvPr id="5" name="Group 6">
            <a:extLst>
              <a:ext uri="{FF2B5EF4-FFF2-40B4-BE49-F238E27FC236}">
                <a16:creationId xmlns:a16="http://schemas.microsoft.com/office/drawing/2014/main" id="{5F9901A8-8EDF-12F9-B867-B71849CC326E}"/>
              </a:ext>
            </a:extLst>
          </p:cNvPr>
          <p:cNvGrpSpPr/>
          <p:nvPr/>
        </p:nvGrpSpPr>
        <p:grpSpPr>
          <a:xfrm>
            <a:off x="-194813" y="1365784"/>
            <a:ext cx="10048063" cy="3777716"/>
            <a:chOff x="0" y="-57150"/>
            <a:chExt cx="2078096" cy="152881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009D724-A46D-D8EC-C724-040958D200F7}"/>
                </a:ext>
              </a:extLst>
            </p:cNvPr>
            <p:cNvSpPr/>
            <p:nvPr/>
          </p:nvSpPr>
          <p:spPr>
            <a:xfrm>
              <a:off x="0" y="0"/>
              <a:ext cx="2078096" cy="1293135"/>
            </a:xfrm>
            <a:custGeom>
              <a:avLst/>
              <a:gdLst/>
              <a:ahLst/>
              <a:cxnLst/>
              <a:rect l="l" t="t" r="r" b="b"/>
              <a:pathLst>
                <a:path w="2078096" h="1471663">
                  <a:moveTo>
                    <a:pt x="50041" y="0"/>
                  </a:moveTo>
                  <a:lnTo>
                    <a:pt x="2028055" y="0"/>
                  </a:lnTo>
                  <a:cubicBezTo>
                    <a:pt x="2041327" y="0"/>
                    <a:pt x="2054055" y="5272"/>
                    <a:pt x="2063440" y="14657"/>
                  </a:cubicBezTo>
                  <a:cubicBezTo>
                    <a:pt x="2072824" y="24041"/>
                    <a:pt x="2078096" y="36769"/>
                    <a:pt x="2078096" y="50041"/>
                  </a:cubicBezTo>
                  <a:lnTo>
                    <a:pt x="2078096" y="1421622"/>
                  </a:lnTo>
                  <a:cubicBezTo>
                    <a:pt x="2078096" y="1434893"/>
                    <a:pt x="2072824" y="1447621"/>
                    <a:pt x="2063440" y="1457006"/>
                  </a:cubicBezTo>
                  <a:cubicBezTo>
                    <a:pt x="2054055" y="1466391"/>
                    <a:pt x="2041327" y="1471663"/>
                    <a:pt x="2028055" y="1471663"/>
                  </a:cubicBezTo>
                  <a:lnTo>
                    <a:pt x="50041" y="1471663"/>
                  </a:lnTo>
                  <a:cubicBezTo>
                    <a:pt x="36769" y="1471663"/>
                    <a:pt x="24041" y="1466391"/>
                    <a:pt x="14657" y="1457006"/>
                  </a:cubicBezTo>
                  <a:cubicBezTo>
                    <a:pt x="5272" y="1447621"/>
                    <a:pt x="0" y="1434893"/>
                    <a:pt x="0" y="1421622"/>
                  </a:cubicBezTo>
                  <a:lnTo>
                    <a:pt x="0" y="50041"/>
                  </a:lnTo>
                  <a:cubicBezTo>
                    <a:pt x="0" y="36769"/>
                    <a:pt x="5272" y="24041"/>
                    <a:pt x="14657" y="14657"/>
                  </a:cubicBezTo>
                  <a:cubicBezTo>
                    <a:pt x="24041" y="5272"/>
                    <a:pt x="36769" y="0"/>
                    <a:pt x="50041" y="0"/>
                  </a:cubicBezTo>
                  <a:close/>
                </a:path>
              </a:pathLst>
            </a:custGeom>
            <a:solidFill>
              <a:srgbClr val="245095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9E9AA56-537C-B881-B9B8-B629F2D8482F}"/>
                </a:ext>
              </a:extLst>
            </p:cNvPr>
            <p:cNvSpPr txBox="1"/>
            <p:nvPr/>
          </p:nvSpPr>
          <p:spPr>
            <a:xfrm>
              <a:off x="0" y="-57150"/>
              <a:ext cx="2078096" cy="1528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3"/>
                </a:lnSpc>
              </a:pPr>
              <a:endParaRPr/>
            </a:p>
          </p:txBody>
        </p:sp>
      </p:grpSp>
      <p:sp>
        <p:nvSpPr>
          <p:cNvPr id="9" name="TextBox 13">
            <a:extLst>
              <a:ext uri="{FF2B5EF4-FFF2-40B4-BE49-F238E27FC236}">
                <a16:creationId xmlns:a16="http://schemas.microsoft.com/office/drawing/2014/main" id="{CF58D771-986A-C49D-F738-FD301E10BD85}"/>
              </a:ext>
            </a:extLst>
          </p:cNvPr>
          <p:cNvSpPr txBox="1"/>
          <p:nvPr/>
        </p:nvSpPr>
        <p:spPr>
          <a:xfrm>
            <a:off x="381000" y="1579108"/>
            <a:ext cx="8877626" cy="4963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Kết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quả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c</a:t>
            </a: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hỉ số F1-score của Baseline cao hơn so của BERT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(Precision)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Recall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thuốc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BERT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ở Baseline </a:t>
            </a: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 hình BERT dự đoán một cụm từ là tác dụng phụ đoán sai bắt nhầm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tương đối cao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ts val="3993"/>
              </a:lnSpc>
            </a:pPr>
            <a:endParaRPr lang="en-US" sz="2400" dirty="0">
              <a:solidFill>
                <a:schemeClr val="bg1"/>
              </a:solidFill>
            </a:endParaRPr>
          </a:p>
          <a:p>
            <a:pPr algn="just">
              <a:lnSpc>
                <a:spcPts val="3993"/>
              </a:lnSpc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3993"/>
              </a:lnSpc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endParaRPr lang="en-US" sz="3000" dirty="0">
              <a:solidFill>
                <a:srgbClr val="FFFFFF"/>
              </a:solidFill>
              <a:latin typeface="Times New Roman" panose="02020603050405020304" pitchFamily="18" charset="0"/>
              <a:ea typeface="Faustina"/>
              <a:cs typeface="Times New Roman" panose="02020603050405020304" pitchFamily="18" charset="0"/>
              <a:sym typeface="Faustina"/>
            </a:endParaRPr>
          </a:p>
        </p:txBody>
      </p:sp>
      <p:grpSp>
        <p:nvGrpSpPr>
          <p:cNvPr id="32" name="Group 9">
            <a:extLst>
              <a:ext uri="{FF2B5EF4-FFF2-40B4-BE49-F238E27FC236}">
                <a16:creationId xmlns:a16="http://schemas.microsoft.com/office/drawing/2014/main" id="{5EF75C51-45C5-6C97-2968-ACB7DECE5D75}"/>
              </a:ext>
            </a:extLst>
          </p:cNvPr>
          <p:cNvGrpSpPr/>
          <p:nvPr/>
        </p:nvGrpSpPr>
        <p:grpSpPr>
          <a:xfrm>
            <a:off x="-163527" y="4828979"/>
            <a:ext cx="10057820" cy="4585358"/>
            <a:chOff x="0" y="-488691"/>
            <a:chExt cx="14581402" cy="6113813"/>
          </a:xfrm>
        </p:grpSpPr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9362962D-6A2E-BC98-A3E0-B391DFFD0532}"/>
                </a:ext>
              </a:extLst>
            </p:cNvPr>
            <p:cNvSpPr txBox="1"/>
            <p:nvPr/>
          </p:nvSpPr>
          <p:spPr>
            <a:xfrm>
              <a:off x="0" y="1253432"/>
              <a:ext cx="6395085" cy="77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4"/>
                </a:lnSpc>
              </a:pPr>
              <a:endPara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endParaRPr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148E80FF-5F54-CED4-3300-863F90BF95D9}"/>
                </a:ext>
              </a:extLst>
            </p:cNvPr>
            <p:cNvSpPr txBox="1"/>
            <p:nvPr/>
          </p:nvSpPr>
          <p:spPr>
            <a:xfrm>
              <a:off x="300298" y="416428"/>
              <a:ext cx="6119755" cy="52086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204"/>
                </a:lnSpc>
              </a:pP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phù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hợp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có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ADE,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thuốc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xây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dựng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sẵn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để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nhận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diện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so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khớp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theo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chuỗi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ts val="5204"/>
                </a:lnSpc>
              </a:pPr>
              <a:r>
                <a:rPr lang="en-US" sz="24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Hạn</a:t>
              </a:r>
              <a:r>
                <a:rPr 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chế</a:t>
              </a:r>
              <a:r>
                <a:rPr 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: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phụ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thuộc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vào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từ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điển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,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không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phát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hiện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được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thực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thể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mới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,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dễ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lỗi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 FP.</a:t>
              </a:r>
            </a:p>
          </p:txBody>
        </p:sp>
        <p:sp>
          <p:nvSpPr>
            <p:cNvPr id="35" name="TextBox 12">
              <a:extLst>
                <a:ext uri="{FF2B5EF4-FFF2-40B4-BE49-F238E27FC236}">
                  <a16:creationId xmlns:a16="http://schemas.microsoft.com/office/drawing/2014/main" id="{6E2C78BA-4A51-67A8-009A-E560ED431CC1}"/>
                </a:ext>
              </a:extLst>
            </p:cNvPr>
            <p:cNvSpPr txBox="1"/>
            <p:nvPr/>
          </p:nvSpPr>
          <p:spPr>
            <a:xfrm>
              <a:off x="6685485" y="-488691"/>
              <a:ext cx="7895917" cy="60978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204"/>
                </a:lnSpc>
              </a:pPr>
              <a:endPara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endParaRPr>
            </a:p>
            <a:p>
              <a:pPr>
                <a:lnSpc>
                  <a:spcPts val="5204"/>
                </a:lnSpc>
              </a:pP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diện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biến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thể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ngôn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ngữ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mà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điển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chứa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Ít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phụ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thuộc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luật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thủ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như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baseline.</a:t>
              </a:r>
            </a:p>
            <a:p>
              <a:pPr>
                <a:lnSpc>
                  <a:spcPts val="5204"/>
                </a:lnSpc>
              </a:pP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Hạn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chế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vi-V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ết quả thấp hơn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vi-V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aseline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cần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dữ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liệu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huấn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luyện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đủ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lớn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cao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hơn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nên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tiêu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tài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endParaRPr>
            </a:p>
          </p:txBody>
        </p:sp>
        <p:sp>
          <p:nvSpPr>
            <p:cNvPr id="36" name="TextBox 13">
              <a:extLst>
                <a:ext uri="{FF2B5EF4-FFF2-40B4-BE49-F238E27FC236}">
                  <a16:creationId xmlns:a16="http://schemas.microsoft.com/office/drawing/2014/main" id="{AA00EFB3-3283-0ADC-0685-4B110AA2A1F6}"/>
                </a:ext>
              </a:extLst>
            </p:cNvPr>
            <p:cNvSpPr txBox="1"/>
            <p:nvPr/>
          </p:nvSpPr>
          <p:spPr>
            <a:xfrm>
              <a:off x="6534785" y="1253432"/>
              <a:ext cx="125731" cy="77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4"/>
                </a:lnSpc>
              </a:pPr>
              <a:endPara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endParaRPr>
            </a:p>
          </p:txBody>
        </p:sp>
        <p:sp>
          <p:nvSpPr>
            <p:cNvPr id="37" name="AutoShape 14">
              <a:extLst>
                <a:ext uri="{FF2B5EF4-FFF2-40B4-BE49-F238E27FC236}">
                  <a16:creationId xmlns:a16="http://schemas.microsoft.com/office/drawing/2014/main" id="{60775BDE-C26F-EC6E-2124-27405703AB15}"/>
                </a:ext>
              </a:extLst>
            </p:cNvPr>
            <p:cNvSpPr/>
            <p:nvPr/>
          </p:nvSpPr>
          <p:spPr>
            <a:xfrm>
              <a:off x="6467234" y="735361"/>
              <a:ext cx="0" cy="402897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9483A1BA-30AC-534B-61EB-C4F4AFCB6929}"/>
              </a:ext>
            </a:extLst>
          </p:cNvPr>
          <p:cNvSpPr/>
          <p:nvPr/>
        </p:nvSpPr>
        <p:spPr>
          <a:xfrm>
            <a:off x="10020247" y="8352599"/>
            <a:ext cx="685800" cy="381000"/>
          </a:xfrm>
          <a:prstGeom prst="rightArrow">
            <a:avLst>
              <a:gd name="adj1" fmla="val 28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6">
            <a:extLst>
              <a:ext uri="{FF2B5EF4-FFF2-40B4-BE49-F238E27FC236}">
                <a16:creationId xmlns:a16="http://schemas.microsoft.com/office/drawing/2014/main" id="{AEA52615-13AE-F820-C312-1D121012C031}"/>
              </a:ext>
            </a:extLst>
          </p:cNvPr>
          <p:cNvSpPr txBox="1"/>
          <p:nvPr/>
        </p:nvSpPr>
        <p:spPr>
          <a:xfrm>
            <a:off x="10832001" y="8067582"/>
            <a:ext cx="4941399" cy="987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Kết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luận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Baseline NER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đạt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mức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tốt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hơn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hiện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tại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so BERT.</a:t>
            </a: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C13B916A-0202-A009-A77F-EAF1AEFD70A4}"/>
              </a:ext>
            </a:extLst>
          </p:cNvPr>
          <p:cNvSpPr txBox="1"/>
          <p:nvPr/>
        </p:nvSpPr>
        <p:spPr>
          <a:xfrm>
            <a:off x="43610" y="4989113"/>
            <a:ext cx="4387091" cy="651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2400" b="1" dirty="0" err="1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Mô</a:t>
            </a:r>
            <a:r>
              <a:rPr lang="en-US" sz="24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400" b="1" dirty="0" err="1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hình</a:t>
            </a:r>
            <a:r>
              <a:rPr lang="en-US" sz="24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Baseline</a:t>
            </a:r>
          </a:p>
        </p:txBody>
      </p:sp>
      <p:sp>
        <p:nvSpPr>
          <p:cNvPr id="47" name="TextBox 17">
            <a:extLst>
              <a:ext uri="{FF2B5EF4-FFF2-40B4-BE49-F238E27FC236}">
                <a16:creationId xmlns:a16="http://schemas.microsoft.com/office/drawing/2014/main" id="{B990E9D9-FA66-565C-9B6A-FA5F69C602AD}"/>
              </a:ext>
            </a:extLst>
          </p:cNvPr>
          <p:cNvSpPr txBox="1"/>
          <p:nvPr/>
        </p:nvSpPr>
        <p:spPr>
          <a:xfrm>
            <a:off x="4584588" y="4938190"/>
            <a:ext cx="4387091" cy="651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2400" b="1" dirty="0" err="1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Mô</a:t>
            </a:r>
            <a:r>
              <a:rPr lang="en-US" sz="24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2400" b="1" dirty="0" err="1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hình</a:t>
            </a:r>
            <a:r>
              <a:rPr lang="en-US" sz="24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BERT</a:t>
            </a:r>
          </a:p>
        </p:txBody>
      </p:sp>
    </p:spTree>
  </p:cSld>
  <p:clrMapOvr>
    <a:masterClrMapping/>
  </p:clrMapOvr>
  <p:transition spd="slow">
    <p:cover dir="l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13A8-888B-7AF0-2A86-615FED270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3370A5-EACF-14C4-EAA4-655340FDDE19}"/>
              </a:ext>
            </a:extLst>
          </p:cNvPr>
          <p:cNvSpPr/>
          <p:nvPr/>
        </p:nvSpPr>
        <p:spPr>
          <a:xfrm>
            <a:off x="17068800" y="9022236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FD066FA-18D9-CED5-0A6B-F49AEC45416B}"/>
              </a:ext>
            </a:extLst>
          </p:cNvPr>
          <p:cNvSpPr txBox="1"/>
          <p:nvPr/>
        </p:nvSpPr>
        <p:spPr>
          <a:xfrm>
            <a:off x="2971800" y="-13243"/>
            <a:ext cx="14722622" cy="1117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ĐÁNH GIÁ RELATION EXTRACTION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493208E-3F60-81A1-2350-5658CEF78846}"/>
              </a:ext>
            </a:extLst>
          </p:cNvPr>
          <p:cNvGrpSpPr/>
          <p:nvPr/>
        </p:nvGrpSpPr>
        <p:grpSpPr>
          <a:xfrm>
            <a:off x="85178" y="-19043"/>
            <a:ext cx="2798184" cy="1388542"/>
            <a:chOff x="0" y="0"/>
            <a:chExt cx="3730912" cy="185138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F00EB40-2188-D4C3-E7EB-A1D3D0A9EEDF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3C08E3E-CC66-C32F-5FAB-2D47A3F253F7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69951CD-9F8D-945E-1E71-03896F4B91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8179" y="1258033"/>
            <a:ext cx="10316589" cy="7073403"/>
          </a:xfrm>
          <a:prstGeom prst="rect">
            <a:avLst/>
          </a:prstGeom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B4DED3E1-7FC3-318C-8B98-BF5CA43922DA}"/>
              </a:ext>
            </a:extLst>
          </p:cNvPr>
          <p:cNvSpPr txBox="1"/>
          <p:nvPr/>
        </p:nvSpPr>
        <p:spPr>
          <a:xfrm>
            <a:off x="1014593" y="1127991"/>
            <a:ext cx="8650584" cy="774162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643"/>
              </a:lnSpc>
            </a:pPr>
            <a:endParaRPr/>
          </a:p>
        </p:txBody>
      </p:sp>
      <p:grpSp>
        <p:nvGrpSpPr>
          <p:cNvPr id="34" name="Group 6">
            <a:extLst>
              <a:ext uri="{FF2B5EF4-FFF2-40B4-BE49-F238E27FC236}">
                <a16:creationId xmlns:a16="http://schemas.microsoft.com/office/drawing/2014/main" id="{BA587BAB-7A0C-9BA8-C950-57CEB65663D2}"/>
              </a:ext>
            </a:extLst>
          </p:cNvPr>
          <p:cNvGrpSpPr/>
          <p:nvPr/>
        </p:nvGrpSpPr>
        <p:grpSpPr>
          <a:xfrm>
            <a:off x="-916359" y="1450863"/>
            <a:ext cx="8799596" cy="6604757"/>
            <a:chOff x="0" y="0"/>
            <a:chExt cx="2078096" cy="1471663"/>
          </a:xfrm>
        </p:grpSpPr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59AF00E3-F4A5-C773-2427-BCFF38C767BF}"/>
                </a:ext>
              </a:extLst>
            </p:cNvPr>
            <p:cNvSpPr/>
            <p:nvPr/>
          </p:nvSpPr>
          <p:spPr>
            <a:xfrm>
              <a:off x="0" y="0"/>
              <a:ext cx="2078096" cy="1471663"/>
            </a:xfrm>
            <a:custGeom>
              <a:avLst/>
              <a:gdLst/>
              <a:ahLst/>
              <a:cxnLst/>
              <a:rect l="l" t="t" r="r" b="b"/>
              <a:pathLst>
                <a:path w="2078096" h="1471663">
                  <a:moveTo>
                    <a:pt x="50041" y="0"/>
                  </a:moveTo>
                  <a:lnTo>
                    <a:pt x="2028055" y="0"/>
                  </a:lnTo>
                  <a:cubicBezTo>
                    <a:pt x="2041327" y="0"/>
                    <a:pt x="2054055" y="5272"/>
                    <a:pt x="2063440" y="14657"/>
                  </a:cubicBezTo>
                  <a:cubicBezTo>
                    <a:pt x="2072824" y="24041"/>
                    <a:pt x="2078096" y="36769"/>
                    <a:pt x="2078096" y="50041"/>
                  </a:cubicBezTo>
                  <a:lnTo>
                    <a:pt x="2078096" y="1421622"/>
                  </a:lnTo>
                  <a:cubicBezTo>
                    <a:pt x="2078096" y="1434893"/>
                    <a:pt x="2072824" y="1447621"/>
                    <a:pt x="2063440" y="1457006"/>
                  </a:cubicBezTo>
                  <a:cubicBezTo>
                    <a:pt x="2054055" y="1466391"/>
                    <a:pt x="2041327" y="1471663"/>
                    <a:pt x="2028055" y="1471663"/>
                  </a:cubicBezTo>
                  <a:lnTo>
                    <a:pt x="50041" y="1471663"/>
                  </a:lnTo>
                  <a:cubicBezTo>
                    <a:pt x="36769" y="1471663"/>
                    <a:pt x="24041" y="1466391"/>
                    <a:pt x="14657" y="1457006"/>
                  </a:cubicBezTo>
                  <a:cubicBezTo>
                    <a:pt x="5272" y="1447621"/>
                    <a:pt x="0" y="1434893"/>
                    <a:pt x="0" y="1421622"/>
                  </a:cubicBezTo>
                  <a:lnTo>
                    <a:pt x="0" y="50041"/>
                  </a:lnTo>
                  <a:cubicBezTo>
                    <a:pt x="0" y="36769"/>
                    <a:pt x="5272" y="24041"/>
                    <a:pt x="14657" y="14657"/>
                  </a:cubicBezTo>
                  <a:cubicBezTo>
                    <a:pt x="24041" y="5272"/>
                    <a:pt x="36769" y="0"/>
                    <a:pt x="50041" y="0"/>
                  </a:cubicBezTo>
                  <a:close/>
                </a:path>
              </a:pathLst>
            </a:custGeom>
            <a:solidFill>
              <a:srgbClr val="245095"/>
            </a:solidFill>
          </p:spPr>
        </p:sp>
        <p:sp>
          <p:nvSpPr>
            <p:cNvPr id="36" name="TextBox 8">
              <a:extLst>
                <a:ext uri="{FF2B5EF4-FFF2-40B4-BE49-F238E27FC236}">
                  <a16:creationId xmlns:a16="http://schemas.microsoft.com/office/drawing/2014/main" id="{449920E2-D50B-88E2-DAB9-22FB6AEFE62F}"/>
                </a:ext>
              </a:extLst>
            </p:cNvPr>
            <p:cNvSpPr txBox="1"/>
            <p:nvPr/>
          </p:nvSpPr>
          <p:spPr>
            <a:xfrm>
              <a:off x="0" y="-57150"/>
              <a:ext cx="2078096" cy="1528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3"/>
                </a:lnSpc>
              </a:pPr>
              <a:endParaRPr/>
            </a:p>
          </p:txBody>
        </p:sp>
      </p:grpSp>
      <p:sp>
        <p:nvSpPr>
          <p:cNvPr id="38" name="TextBox 13">
            <a:extLst>
              <a:ext uri="{FF2B5EF4-FFF2-40B4-BE49-F238E27FC236}">
                <a16:creationId xmlns:a16="http://schemas.microsoft.com/office/drawing/2014/main" id="{43AD0E4F-C6F5-C08D-3DD9-858E3BBD7C5C}"/>
              </a:ext>
            </a:extLst>
          </p:cNvPr>
          <p:cNvSpPr txBox="1"/>
          <p:nvPr/>
        </p:nvSpPr>
        <p:spPr>
          <a:xfrm>
            <a:off x="-1" y="1532227"/>
            <a:ext cx="7620001" cy="6604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Relation Extraction (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luật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đồng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xuất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hiện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trong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câu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): </a:t>
            </a:r>
          </a:p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</a:t>
            </a:r>
            <a:r>
              <a:rPr lang="vi-V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 năng phát hiện nhiều quan hệ hơn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Precision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FP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Extraction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Precision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FP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Recall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FN,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endParaRPr lang="en-US" sz="3000" dirty="0">
              <a:solidFill>
                <a:srgbClr val="FFFFFF"/>
              </a:solidFill>
              <a:latin typeface="Times New Roman" panose="02020603050405020304" pitchFamily="18" charset="0"/>
              <a:ea typeface="Faustina"/>
              <a:cs typeface="Times New Roman" panose="02020603050405020304" pitchFamily="18" charset="0"/>
              <a:sym typeface="Faustina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4897888B-189D-BB30-3380-37B10AA982A4}"/>
              </a:ext>
            </a:extLst>
          </p:cNvPr>
          <p:cNvSpPr txBox="1"/>
          <p:nvPr/>
        </p:nvSpPr>
        <p:spPr>
          <a:xfrm>
            <a:off x="1905000" y="8682995"/>
            <a:ext cx="14141812" cy="987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luận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qua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quả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cho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thấy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Relation Extraction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sau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cải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tiến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hiệu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quả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hơn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trích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xuất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thực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thể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đồng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xuất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hiện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trong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câu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12E7C7C9-C6AE-7057-0917-F5B78E510307}"/>
              </a:ext>
            </a:extLst>
          </p:cNvPr>
          <p:cNvSpPr/>
          <p:nvPr/>
        </p:nvSpPr>
        <p:spPr>
          <a:xfrm>
            <a:off x="671693" y="8968509"/>
            <a:ext cx="685800" cy="381000"/>
          </a:xfrm>
          <a:prstGeom prst="rightArrow">
            <a:avLst>
              <a:gd name="adj1" fmla="val 28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43402"/>
      </p:ext>
    </p:extLst>
  </p:cSld>
  <p:clrMapOvr>
    <a:masterClrMapping/>
  </p:clrMapOvr>
  <p:transition spd="slow">
    <p:cover dir="l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DF274-423D-9B8B-F294-896B81531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E5C1857B-7E02-F131-C838-11D22384F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03603"/>
            <a:ext cx="18257427" cy="1225297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9B2363FA-3194-F6FF-66AB-854483E39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99906"/>
            <a:ext cx="18059400" cy="1307709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5BF3CEFD-3B9C-F6DF-D8F9-2A19074F1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8921496"/>
            <a:ext cx="18059400" cy="126961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466D4E83-4A11-6A2A-5AFF-7F38B3F34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6807615"/>
            <a:ext cx="17830800" cy="2075782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C48E55E-1591-D9FD-8E33-7923E09FF6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099560"/>
            <a:ext cx="18059400" cy="1438446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C5C08BDA-C906-C869-958B-62762B0B18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2638254"/>
            <a:ext cx="18059401" cy="143844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06FD96F-8A54-2488-F558-9F2C15040E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8304408" cy="1382496"/>
          </a:xfrm>
          <a:prstGeom prst="rect">
            <a:avLst/>
          </a:prstGeom>
        </p:spPr>
      </p:pic>
      <p:grpSp>
        <p:nvGrpSpPr>
          <p:cNvPr id="16" name="Group 16">
            <a:extLst>
              <a:ext uri="{FF2B5EF4-FFF2-40B4-BE49-F238E27FC236}">
                <a16:creationId xmlns:a16="http://schemas.microsoft.com/office/drawing/2014/main" id="{7D28CB8E-C39F-FB6E-9376-F61A90725F29}"/>
              </a:ext>
            </a:extLst>
          </p:cNvPr>
          <p:cNvGrpSpPr/>
          <p:nvPr/>
        </p:nvGrpSpPr>
        <p:grpSpPr>
          <a:xfrm>
            <a:off x="-2209800" y="9377068"/>
            <a:ext cx="16386979" cy="3413258"/>
            <a:chOff x="0" y="-376112"/>
            <a:chExt cx="15251276" cy="4551012"/>
          </a:xfrm>
        </p:grpSpPr>
        <p:sp>
          <p:nvSpPr>
            <p:cNvPr id="22" name="TextBox 19">
              <a:extLst>
                <a:ext uri="{FF2B5EF4-FFF2-40B4-BE49-F238E27FC236}">
                  <a16:creationId xmlns:a16="http://schemas.microsoft.com/office/drawing/2014/main" id="{8F5757A5-489C-CFEC-BB5E-1BA1304F58BF}"/>
                </a:ext>
              </a:extLst>
            </p:cNvPr>
            <p:cNvSpPr txBox="1"/>
            <p:nvPr/>
          </p:nvSpPr>
          <p:spPr>
            <a:xfrm>
              <a:off x="0" y="-376112"/>
              <a:ext cx="15251276" cy="4551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3"/>
                </a:lnSpc>
              </a:pPr>
              <a:endParaRPr/>
            </a:p>
          </p:txBody>
        </p:sp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089A4E89-D4B5-2026-E94D-1E371A9449B3}"/>
                </a:ext>
              </a:extLst>
            </p:cNvPr>
            <p:cNvSpPr txBox="1"/>
            <p:nvPr/>
          </p:nvSpPr>
          <p:spPr>
            <a:xfrm>
              <a:off x="750983" y="1482872"/>
              <a:ext cx="14086164" cy="650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just">
                <a:lnSpc>
                  <a:spcPts val="4160"/>
                </a:lnSpc>
                <a:buFont typeface="Arial"/>
                <a:buChar char="•"/>
              </a:pPr>
              <a:endPara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endParaRPr>
            </a:p>
          </p:txBody>
        </p:sp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8CC65FF9-5B94-5198-2C68-591259892627}"/>
                </a:ext>
              </a:extLst>
            </p:cNvPr>
            <p:cNvSpPr txBox="1"/>
            <p:nvPr/>
          </p:nvSpPr>
          <p:spPr>
            <a:xfrm>
              <a:off x="1660940" y="360193"/>
              <a:ext cx="12767681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40"/>
                </a:lnSpc>
              </a:pPr>
              <a:endPara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AD5FBE8C-9046-F81C-2E3F-0D922312D72E}"/>
                </a:ext>
              </a:extLst>
            </p:cNvPr>
            <p:cNvSpPr/>
            <p:nvPr/>
          </p:nvSpPr>
          <p:spPr>
            <a:xfrm>
              <a:off x="315828" y="356204"/>
              <a:ext cx="870308" cy="870308"/>
            </a:xfrm>
            <a:custGeom>
              <a:avLst/>
              <a:gdLst/>
              <a:ahLst/>
              <a:cxnLst/>
              <a:rect l="l" t="t" r="r" b="b"/>
              <a:pathLst>
                <a:path w="870308" h="870308">
                  <a:moveTo>
                    <a:pt x="0" y="0"/>
                  </a:moveTo>
                  <a:lnTo>
                    <a:pt x="870308" y="0"/>
                  </a:lnTo>
                  <a:lnTo>
                    <a:pt x="870308" y="870308"/>
                  </a:lnTo>
                  <a:lnTo>
                    <a:pt x="0" y="870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986641596"/>
      </p:ext>
    </p:extLst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 flipV="1">
            <a:off x="15925800" y="8427540"/>
            <a:ext cx="1988278" cy="2126501"/>
          </a:xfrm>
          <a:custGeom>
            <a:avLst/>
            <a:gdLst/>
            <a:ahLst/>
            <a:cxnLst/>
            <a:rect l="l" t="t" r="r" b="b"/>
            <a:pathLst>
              <a:path w="1988278" h="2126501">
                <a:moveTo>
                  <a:pt x="0" y="2126501"/>
                </a:moveTo>
                <a:lnTo>
                  <a:pt x="1988278" y="2126501"/>
                </a:lnTo>
                <a:lnTo>
                  <a:pt x="1988278" y="0"/>
                </a:lnTo>
                <a:lnTo>
                  <a:pt x="0" y="0"/>
                </a:lnTo>
                <a:lnTo>
                  <a:pt x="0" y="21265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56322" y="9223750"/>
            <a:ext cx="3657600" cy="1911096"/>
          </a:xfrm>
          <a:custGeom>
            <a:avLst/>
            <a:gdLst/>
            <a:ahLst/>
            <a:cxnLst/>
            <a:rect l="l" t="t" r="r" b="b"/>
            <a:pathLst>
              <a:path w="3657600" h="1911096">
                <a:moveTo>
                  <a:pt x="0" y="0"/>
                </a:moveTo>
                <a:lnTo>
                  <a:pt x="3657600" y="0"/>
                </a:lnTo>
                <a:lnTo>
                  <a:pt x="3657600" y="1911096"/>
                </a:lnTo>
                <a:lnTo>
                  <a:pt x="0" y="19110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32467" y="112857"/>
            <a:ext cx="17525999" cy="1117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PHÂN TÍCH LỖI SAU CẢI TIẾN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29534" y="0"/>
            <a:ext cx="2798184" cy="1388542"/>
            <a:chOff x="0" y="0"/>
            <a:chExt cx="3730912" cy="185138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A4989652-8792-67DF-D923-71BA0A746D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0592" y="1837618"/>
            <a:ext cx="10507541" cy="75258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47064E4-6940-2A73-5E23-F85A4AA88C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4095" y="4172600"/>
            <a:ext cx="10480533" cy="93358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18D4ABF-41AF-D094-905C-3749860D07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0592" y="5114135"/>
            <a:ext cx="10480533" cy="84784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2009908-30A5-D427-9848-605C0850CE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0" y="6058274"/>
            <a:ext cx="10480533" cy="90500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B4C1092-8C39-0D92-1C05-B1B5E58F86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6981353"/>
            <a:ext cx="10480533" cy="96215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94CF836-390D-8100-E367-AD1381BACFF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0" y="2590198"/>
            <a:ext cx="10480533" cy="1638529"/>
          </a:xfrm>
          <a:prstGeom prst="rect">
            <a:avLst/>
          </a:prstGeom>
        </p:spPr>
      </p:pic>
    </p:spTree>
  </p:cSld>
  <p:clrMapOvr>
    <a:masterClrMapping/>
  </p:clrMapOvr>
  <p:transition spd="slow">
    <p:cover dir="l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918E-8B0A-4D46-6992-1EC17C13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939401-5382-B9FE-1C76-D095EDE8D7E6}"/>
              </a:ext>
            </a:extLst>
          </p:cNvPr>
          <p:cNvSpPr/>
          <p:nvPr/>
        </p:nvSpPr>
        <p:spPr>
          <a:xfrm>
            <a:off x="16364641" y="8212023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0777FFC-5464-6A0A-322D-E8331F2DA803}"/>
              </a:ext>
            </a:extLst>
          </p:cNvPr>
          <p:cNvSpPr/>
          <p:nvPr/>
        </p:nvSpPr>
        <p:spPr>
          <a:xfrm>
            <a:off x="-952885" y="9207987"/>
            <a:ext cx="1953010" cy="1953010"/>
          </a:xfrm>
          <a:custGeom>
            <a:avLst/>
            <a:gdLst/>
            <a:ahLst/>
            <a:cxnLst/>
            <a:rect l="l" t="t" r="r" b="b"/>
            <a:pathLst>
              <a:path w="1953010" h="1953010">
                <a:moveTo>
                  <a:pt x="0" y="0"/>
                </a:moveTo>
                <a:lnTo>
                  <a:pt x="1953010" y="0"/>
                </a:lnTo>
                <a:lnTo>
                  <a:pt x="1953010" y="1953009"/>
                </a:lnTo>
                <a:lnTo>
                  <a:pt x="0" y="1953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1B61698-4634-8F65-EB73-4D8BF2AE11EE}"/>
              </a:ext>
            </a:extLst>
          </p:cNvPr>
          <p:cNvSpPr txBox="1"/>
          <p:nvPr/>
        </p:nvSpPr>
        <p:spPr>
          <a:xfrm>
            <a:off x="2697089" y="121461"/>
            <a:ext cx="14722622" cy="1117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ĐÁNH GIÁ THỰC THỂ CHUẨN HOÁ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E84348B-2B8E-C5DA-8AC4-0B79A7765B61}"/>
              </a:ext>
            </a:extLst>
          </p:cNvPr>
          <p:cNvGrpSpPr/>
          <p:nvPr/>
        </p:nvGrpSpPr>
        <p:grpSpPr>
          <a:xfrm>
            <a:off x="43611" y="121461"/>
            <a:ext cx="2798184" cy="1388542"/>
            <a:chOff x="0" y="0"/>
            <a:chExt cx="3730912" cy="185138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834EDBF-4B7F-1521-CA8A-9CA82F9ABEE8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2835C0B-1BAC-87CE-FFBB-BBF8B8F196FD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0161B3B-47D8-706A-FB8D-88F8A10BB6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1481548"/>
            <a:ext cx="8264960" cy="6224073"/>
          </a:xfrm>
          <a:prstGeom prst="rect">
            <a:avLst/>
          </a:prstGeom>
        </p:spPr>
      </p:pic>
      <p:sp>
        <p:nvSpPr>
          <p:cNvPr id="9" name="Freeform 12">
            <a:extLst>
              <a:ext uri="{FF2B5EF4-FFF2-40B4-BE49-F238E27FC236}">
                <a16:creationId xmlns:a16="http://schemas.microsoft.com/office/drawing/2014/main" id="{13777EA7-4483-F7A4-79A1-D6E76AD4CA7C}"/>
              </a:ext>
            </a:extLst>
          </p:cNvPr>
          <p:cNvSpPr/>
          <p:nvPr/>
        </p:nvSpPr>
        <p:spPr>
          <a:xfrm>
            <a:off x="16935528" y="-863666"/>
            <a:ext cx="1974988" cy="2126501"/>
          </a:xfrm>
          <a:custGeom>
            <a:avLst/>
            <a:gdLst/>
            <a:ahLst/>
            <a:cxnLst/>
            <a:rect l="l" t="t" r="r" b="b"/>
            <a:pathLst>
              <a:path w="1974988" h="2126501">
                <a:moveTo>
                  <a:pt x="0" y="0"/>
                </a:moveTo>
                <a:lnTo>
                  <a:pt x="1974988" y="0"/>
                </a:lnTo>
                <a:lnTo>
                  <a:pt x="1974988" y="2126501"/>
                </a:lnTo>
                <a:lnTo>
                  <a:pt x="0" y="21265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100123D9-643C-D405-BF57-31AAC1D08DFB}"/>
              </a:ext>
            </a:extLst>
          </p:cNvPr>
          <p:cNvSpPr txBox="1"/>
          <p:nvPr/>
        </p:nvSpPr>
        <p:spPr>
          <a:xfrm>
            <a:off x="274114" y="1864243"/>
            <a:ext cx="9250885" cy="4450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quả</a:t>
            </a:r>
            <a:r>
              <a:rPr lang="en-US" sz="28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tổng</a:t>
            </a:r>
            <a:r>
              <a:rPr lang="en-US" sz="28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entity </a:t>
            </a:r>
            <a:r>
              <a:rPr lang="en-US" sz="28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chuẩn</a:t>
            </a:r>
            <a:r>
              <a:rPr lang="en-US" sz="28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hoá</a:t>
            </a:r>
            <a:r>
              <a:rPr lang="en-US" sz="28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 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được gộp về cùng một thực thể chuẩn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 thể duy nhất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4.85%).</a:t>
            </a:r>
          </a:p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 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ts val="3993"/>
              </a:lnSpc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3993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</a:p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endParaRPr lang="en-US" sz="3000" dirty="0">
              <a:solidFill>
                <a:srgbClr val="FFFFFF"/>
              </a:solidFill>
              <a:latin typeface="Times New Roman" panose="02020603050405020304" pitchFamily="18" charset="0"/>
              <a:ea typeface="Faustina"/>
              <a:cs typeface="Times New Roman" panose="02020603050405020304" pitchFamily="18" charset="0"/>
              <a:sym typeface="Faustina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18D68BAB-0559-D083-54BC-C326D0B03B9A}"/>
              </a:ext>
            </a:extLst>
          </p:cNvPr>
          <p:cNvSpPr txBox="1"/>
          <p:nvPr/>
        </p:nvSpPr>
        <p:spPr>
          <a:xfrm>
            <a:off x="274114" y="7018433"/>
            <a:ext cx="12351967" cy="168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endParaRPr lang="en-US" sz="3199" dirty="0">
              <a:solidFill>
                <a:srgbClr val="000000"/>
              </a:solidFill>
              <a:latin typeface="Times New Roman" panose="02020603050405020304" pitchFamily="18" charset="0"/>
              <a:ea typeface="Faustina"/>
              <a:cs typeface="Times New Roman" panose="02020603050405020304" pitchFamily="18" charset="0"/>
              <a:sym typeface="Faustina"/>
            </a:endParaRPr>
          </a:p>
          <a:p>
            <a:pPr algn="just">
              <a:lnSpc>
                <a:spcPts val="4479"/>
              </a:lnSpc>
            </a:pPr>
            <a:endParaRPr lang="en-US" sz="3199" dirty="0">
              <a:solidFill>
                <a:srgbClr val="000000"/>
              </a:solidFill>
              <a:latin typeface="Times New Roman" panose="02020603050405020304" pitchFamily="18" charset="0"/>
              <a:ea typeface="Faustina"/>
              <a:cs typeface="Times New Roman" panose="02020603050405020304" pitchFamily="18" charset="0"/>
              <a:sym typeface="Faustina"/>
            </a:endParaRPr>
          </a:p>
          <a:p>
            <a:pPr algn="just">
              <a:lnSpc>
                <a:spcPts val="4479"/>
              </a:lnSpc>
            </a:pPr>
            <a:endParaRPr lang="en-US" sz="3199" dirty="0">
              <a:solidFill>
                <a:srgbClr val="000000"/>
              </a:solidFill>
              <a:latin typeface="Times New Roman" panose="02020603050405020304" pitchFamily="18" charset="0"/>
              <a:ea typeface="Faustina"/>
              <a:cs typeface="Times New Roman" panose="02020603050405020304" pitchFamily="18" charset="0"/>
              <a:sym typeface="Faustina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339F9C1-2714-0913-DFF7-372C64F39559}"/>
              </a:ext>
            </a:extLst>
          </p:cNvPr>
          <p:cNvSpPr/>
          <p:nvPr/>
        </p:nvSpPr>
        <p:spPr>
          <a:xfrm>
            <a:off x="657225" y="6474099"/>
            <a:ext cx="685800" cy="381000"/>
          </a:xfrm>
          <a:prstGeom prst="rightArrow">
            <a:avLst>
              <a:gd name="adj1" fmla="val 28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DB6E407D-ADC4-CBDA-AF4B-4684DC796D06}"/>
              </a:ext>
            </a:extLst>
          </p:cNvPr>
          <p:cNvSpPr txBox="1"/>
          <p:nvPr/>
        </p:nvSpPr>
        <p:spPr>
          <a:xfrm>
            <a:off x="2082629" y="5837448"/>
            <a:ext cx="7594771" cy="981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Kết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668096872"/>
      </p:ext>
    </p:extLst>
  </p:cSld>
  <p:clrMapOvr>
    <a:masterClrMapping/>
  </p:clrMapOvr>
  <p:transition spd="slow">
    <p:cover dir="l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9AAD0-83DA-15C9-BC22-3EF0A73A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3B6D08-4B3C-C25A-D2E7-F9D851D0E794}"/>
              </a:ext>
            </a:extLst>
          </p:cNvPr>
          <p:cNvSpPr/>
          <p:nvPr/>
        </p:nvSpPr>
        <p:spPr>
          <a:xfrm>
            <a:off x="18025086" y="9092869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250E594-2050-AD67-A364-6F3995FFA372}"/>
              </a:ext>
            </a:extLst>
          </p:cNvPr>
          <p:cNvSpPr/>
          <p:nvPr/>
        </p:nvSpPr>
        <p:spPr>
          <a:xfrm>
            <a:off x="-952885" y="9207987"/>
            <a:ext cx="1953010" cy="1953010"/>
          </a:xfrm>
          <a:custGeom>
            <a:avLst/>
            <a:gdLst/>
            <a:ahLst/>
            <a:cxnLst/>
            <a:rect l="l" t="t" r="r" b="b"/>
            <a:pathLst>
              <a:path w="1953010" h="1953010">
                <a:moveTo>
                  <a:pt x="0" y="0"/>
                </a:moveTo>
                <a:lnTo>
                  <a:pt x="1953010" y="0"/>
                </a:lnTo>
                <a:lnTo>
                  <a:pt x="1953010" y="1953009"/>
                </a:lnTo>
                <a:lnTo>
                  <a:pt x="0" y="1953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8FC8073-2219-6AB0-DBD9-B93273D8118F}"/>
              </a:ext>
            </a:extLst>
          </p:cNvPr>
          <p:cNvSpPr txBox="1"/>
          <p:nvPr/>
        </p:nvSpPr>
        <p:spPr>
          <a:xfrm>
            <a:off x="3086100" y="-109281"/>
            <a:ext cx="14722622" cy="1122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ĐÁNH GIÁ KNOWLEDGE GRAPH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2488280-E1EC-65AD-227F-6327E84B2850}"/>
              </a:ext>
            </a:extLst>
          </p:cNvPr>
          <p:cNvGrpSpPr/>
          <p:nvPr/>
        </p:nvGrpSpPr>
        <p:grpSpPr>
          <a:xfrm>
            <a:off x="0" y="-17843"/>
            <a:ext cx="2286000" cy="1139735"/>
            <a:chOff x="0" y="0"/>
            <a:chExt cx="3730912" cy="185138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6EC0C4D-E901-E4D6-FE4F-FF46C9DF46F0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CAE7E91-E244-AC6C-2909-3C945FE520C6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3" name="TextBox 6">
            <a:extLst>
              <a:ext uri="{FF2B5EF4-FFF2-40B4-BE49-F238E27FC236}">
                <a16:creationId xmlns:a16="http://schemas.microsoft.com/office/drawing/2014/main" id="{220DC242-E21C-F8D9-9B68-187D07D9A72B}"/>
              </a:ext>
            </a:extLst>
          </p:cNvPr>
          <p:cNvSpPr txBox="1"/>
          <p:nvPr/>
        </p:nvSpPr>
        <p:spPr>
          <a:xfrm>
            <a:off x="132408" y="2039792"/>
            <a:ext cx="6705601" cy="5034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Các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chỉ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số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nhẹ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KGP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tăng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KGR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KGF1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Tỉ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lệ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trùng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lặp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DR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giảm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bớt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nhiễu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được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chuẩn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hoá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tốt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hơn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Trong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đó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số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lượng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triple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được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mở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rộng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tăng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Cấu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trúc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9E588-7265-0BB7-6771-6094A89C90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0212" y="1562100"/>
            <a:ext cx="11157788" cy="5716458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8D1489DB-6B1B-0034-8822-1BD8C23FF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FAC0757-B868-A83D-7DCB-30985C934161}"/>
              </a:ext>
            </a:extLst>
          </p:cNvPr>
          <p:cNvSpPr/>
          <p:nvPr/>
        </p:nvSpPr>
        <p:spPr>
          <a:xfrm>
            <a:off x="739855" y="8247208"/>
            <a:ext cx="685800" cy="381000"/>
          </a:xfrm>
          <a:prstGeom prst="rightArrow">
            <a:avLst>
              <a:gd name="adj1" fmla="val 28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DAFAA106-990F-5B8C-55FC-4437E4EB5596}"/>
              </a:ext>
            </a:extLst>
          </p:cNvPr>
          <p:cNvSpPr txBox="1"/>
          <p:nvPr/>
        </p:nvSpPr>
        <p:spPr>
          <a:xfrm>
            <a:off x="2286000" y="7827003"/>
            <a:ext cx="16075507" cy="1905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04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Việc thêm ngữ cảnh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>
              <a:lnSpc>
                <a:spcPts val="5204"/>
              </a:lnSpc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4115261713"/>
      </p:ext>
    </p:extLst>
  </p:cSld>
  <p:clrMapOvr>
    <a:masterClrMapping/>
  </p:clrMapOvr>
  <p:transition spd="slow">
    <p:cover dir="l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7FC0F-FA39-B57D-23A0-DDD5FAC1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3ECDFC-5C1C-3644-1DA6-E0B6851E1E67}"/>
              </a:ext>
            </a:extLst>
          </p:cNvPr>
          <p:cNvSpPr/>
          <p:nvPr/>
        </p:nvSpPr>
        <p:spPr>
          <a:xfrm>
            <a:off x="16364641" y="8212023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100096B-8FF0-AA5A-5E97-DCAB3F9353BC}"/>
              </a:ext>
            </a:extLst>
          </p:cNvPr>
          <p:cNvSpPr/>
          <p:nvPr/>
        </p:nvSpPr>
        <p:spPr>
          <a:xfrm>
            <a:off x="-952885" y="9207987"/>
            <a:ext cx="1953010" cy="1953010"/>
          </a:xfrm>
          <a:custGeom>
            <a:avLst/>
            <a:gdLst/>
            <a:ahLst/>
            <a:cxnLst/>
            <a:rect l="l" t="t" r="r" b="b"/>
            <a:pathLst>
              <a:path w="1953010" h="1953010">
                <a:moveTo>
                  <a:pt x="0" y="0"/>
                </a:moveTo>
                <a:lnTo>
                  <a:pt x="1953010" y="0"/>
                </a:lnTo>
                <a:lnTo>
                  <a:pt x="1953010" y="1953009"/>
                </a:lnTo>
                <a:lnTo>
                  <a:pt x="0" y="1953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ED55B81-547A-C3A7-DAF3-013B82BF4DF8}"/>
              </a:ext>
            </a:extLst>
          </p:cNvPr>
          <p:cNvSpPr txBox="1"/>
          <p:nvPr/>
        </p:nvSpPr>
        <p:spPr>
          <a:xfrm>
            <a:off x="3086100" y="-109281"/>
            <a:ext cx="14722622" cy="1122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ĐÁNH GIÁ KNOWLEDGE GRAPH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863FCBB-944F-A9DE-7853-6E71E28A0659}"/>
              </a:ext>
            </a:extLst>
          </p:cNvPr>
          <p:cNvGrpSpPr/>
          <p:nvPr/>
        </p:nvGrpSpPr>
        <p:grpSpPr>
          <a:xfrm>
            <a:off x="0" y="-17843"/>
            <a:ext cx="2286000" cy="1139735"/>
            <a:chOff x="0" y="0"/>
            <a:chExt cx="3730912" cy="185138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AB11E77-05E2-8E6A-FB34-6D1E7BD689D8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1411488-5D39-A45E-F2CE-837882B9E5B1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3" name="TextBox 6">
            <a:extLst>
              <a:ext uri="{FF2B5EF4-FFF2-40B4-BE49-F238E27FC236}">
                <a16:creationId xmlns:a16="http://schemas.microsoft.com/office/drawing/2014/main" id="{DE2CD871-7905-0A89-5345-F658E6CCD691}"/>
              </a:ext>
            </a:extLst>
          </p:cNvPr>
          <p:cNvSpPr txBox="1"/>
          <p:nvPr/>
        </p:nvSpPr>
        <p:spPr>
          <a:xfrm>
            <a:off x="1312201" y="7721119"/>
            <a:ext cx="14740364" cy="981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Kết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đánh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giá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trung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bình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truy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vấn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ngữ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cảnh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cao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hơn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so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với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đồ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thị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tri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thức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đơn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giản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 thấy Knowledge Graph ngữ cảnh duy trì tỷ lệ thành công truy vấn (QSR = 100%)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A62CD4-688F-F4D0-ACA0-A5C28265F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F5643A2-0A88-E4EB-CCA8-F8F4DEC92958}"/>
              </a:ext>
            </a:extLst>
          </p:cNvPr>
          <p:cNvSpPr/>
          <p:nvPr/>
        </p:nvSpPr>
        <p:spPr>
          <a:xfrm>
            <a:off x="1216342" y="9449350"/>
            <a:ext cx="685800" cy="381000"/>
          </a:xfrm>
          <a:prstGeom prst="rightArrow">
            <a:avLst>
              <a:gd name="adj1" fmla="val 28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E3EC2E-FF0E-0DD6-775C-BAEB0B27B6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6100" y="1322654"/>
            <a:ext cx="12192000" cy="5855304"/>
          </a:xfrm>
          <a:prstGeom prst="rect">
            <a:avLst/>
          </a:prstGeom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AF72111B-07DD-2168-0D0D-64723EDBAF91}"/>
              </a:ext>
            </a:extLst>
          </p:cNvPr>
          <p:cNvSpPr txBox="1"/>
          <p:nvPr/>
        </p:nvSpPr>
        <p:spPr>
          <a:xfrm>
            <a:off x="2544654" y="9246087"/>
            <a:ext cx="13789507" cy="584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04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948420832"/>
      </p:ext>
    </p:extLst>
  </p:cSld>
  <p:clrMapOvr>
    <a:masterClrMapping/>
  </p:clrMapOvr>
  <p:transition spd="slow">
    <p:cover dir="l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4A0F-B7DD-1F10-4A1C-B0C7A5FF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9FA31E-9C07-30FA-F53D-076386D8B921}"/>
              </a:ext>
            </a:extLst>
          </p:cNvPr>
          <p:cNvSpPr/>
          <p:nvPr/>
        </p:nvSpPr>
        <p:spPr>
          <a:xfrm>
            <a:off x="17892542" y="9131475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08ED46E-26DF-0E9C-984C-CA2B90C4114B}"/>
              </a:ext>
            </a:extLst>
          </p:cNvPr>
          <p:cNvSpPr/>
          <p:nvPr/>
        </p:nvSpPr>
        <p:spPr>
          <a:xfrm>
            <a:off x="-1295400" y="9563100"/>
            <a:ext cx="1953010" cy="1953010"/>
          </a:xfrm>
          <a:custGeom>
            <a:avLst/>
            <a:gdLst/>
            <a:ahLst/>
            <a:cxnLst/>
            <a:rect l="l" t="t" r="r" b="b"/>
            <a:pathLst>
              <a:path w="1953010" h="1953010">
                <a:moveTo>
                  <a:pt x="0" y="0"/>
                </a:moveTo>
                <a:lnTo>
                  <a:pt x="1953010" y="0"/>
                </a:lnTo>
                <a:lnTo>
                  <a:pt x="1953010" y="1953009"/>
                </a:lnTo>
                <a:lnTo>
                  <a:pt x="0" y="1953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2B3B2D-9E46-6B1B-4717-CE6D22BD437E}"/>
              </a:ext>
            </a:extLst>
          </p:cNvPr>
          <p:cNvSpPr txBox="1"/>
          <p:nvPr/>
        </p:nvSpPr>
        <p:spPr>
          <a:xfrm>
            <a:off x="3169920" y="-190500"/>
            <a:ext cx="14722622" cy="1117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KẾT QUẢ TRUY VẤN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86D2455-A71B-75CA-EA06-979022F59A5D}"/>
              </a:ext>
            </a:extLst>
          </p:cNvPr>
          <p:cNvGrpSpPr/>
          <p:nvPr/>
        </p:nvGrpSpPr>
        <p:grpSpPr>
          <a:xfrm>
            <a:off x="111146" y="0"/>
            <a:ext cx="2798184" cy="1388542"/>
            <a:chOff x="0" y="0"/>
            <a:chExt cx="3730912" cy="185138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0C8F402-DD78-E60A-0454-24912267ADEA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06D7984-2048-243E-4509-71509497111E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3" name="TextBox 6">
            <a:extLst>
              <a:ext uri="{FF2B5EF4-FFF2-40B4-BE49-F238E27FC236}">
                <a16:creationId xmlns:a16="http://schemas.microsoft.com/office/drawing/2014/main" id="{2E616C53-5B23-7C22-73A4-05FA3B05CBD1}"/>
              </a:ext>
            </a:extLst>
          </p:cNvPr>
          <p:cNvSpPr txBox="1"/>
          <p:nvPr/>
        </p:nvSpPr>
        <p:spPr>
          <a:xfrm>
            <a:off x="976896" y="8271584"/>
            <a:ext cx="16535400" cy="993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993"/>
              </a:lnSpc>
              <a:buFont typeface="Wingdings" panose="05000000000000000000" pitchFamily="2" charset="2"/>
              <a:buChar char="Ø"/>
            </a:pP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Kết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quả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truy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vấn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thứ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nhất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 để tìm ra thuốc nào xuất hiện nhiều nhất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cho thấy Lipitor là loại thuốc được nhắc đến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nhiểu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F83B63-1551-3F0C-E71B-7BC0AAA787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800" y="1704123"/>
            <a:ext cx="13892318" cy="5884892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60D9A07A-1CB7-566B-39AC-F57B7036CA8E}"/>
              </a:ext>
            </a:extLst>
          </p:cNvPr>
          <p:cNvSpPr txBox="1"/>
          <p:nvPr/>
        </p:nvSpPr>
        <p:spPr>
          <a:xfrm>
            <a:off x="-318895" y="998694"/>
            <a:ext cx="12937808" cy="48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1.Thuốc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được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xuất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hiện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nhiều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nhất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473DB917-5B22-0B65-55E9-EB6BC8407C0D}"/>
              </a:ext>
            </a:extLst>
          </p:cNvPr>
          <p:cNvSpPr/>
          <p:nvPr/>
        </p:nvSpPr>
        <p:spPr>
          <a:xfrm>
            <a:off x="16201866" y="-368980"/>
            <a:ext cx="1974988" cy="2126501"/>
          </a:xfrm>
          <a:custGeom>
            <a:avLst/>
            <a:gdLst/>
            <a:ahLst/>
            <a:cxnLst/>
            <a:rect l="l" t="t" r="r" b="b"/>
            <a:pathLst>
              <a:path w="1974988" h="2126501">
                <a:moveTo>
                  <a:pt x="0" y="0"/>
                </a:moveTo>
                <a:lnTo>
                  <a:pt x="1974988" y="0"/>
                </a:lnTo>
                <a:lnTo>
                  <a:pt x="1974988" y="2126501"/>
                </a:lnTo>
                <a:lnTo>
                  <a:pt x="0" y="21265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62836140"/>
      </p:ext>
    </p:extLst>
  </p:cSld>
  <p:clrMapOvr>
    <a:masterClrMapping/>
  </p:clrMapOvr>
  <p:transition spd="slow">
    <p:cover dir="l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18510-984E-8771-DB8F-F59FD2E97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94EB1E-ECAC-9BBC-C0ED-95EE4EAB0930}"/>
              </a:ext>
            </a:extLst>
          </p:cNvPr>
          <p:cNvSpPr/>
          <p:nvPr/>
        </p:nvSpPr>
        <p:spPr>
          <a:xfrm>
            <a:off x="16364641" y="8860459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FE3C372-94F3-19CD-B20F-4E1AD9229367}"/>
              </a:ext>
            </a:extLst>
          </p:cNvPr>
          <p:cNvSpPr/>
          <p:nvPr/>
        </p:nvSpPr>
        <p:spPr>
          <a:xfrm>
            <a:off x="-1295400" y="9563100"/>
            <a:ext cx="1953010" cy="1953010"/>
          </a:xfrm>
          <a:custGeom>
            <a:avLst/>
            <a:gdLst/>
            <a:ahLst/>
            <a:cxnLst/>
            <a:rect l="l" t="t" r="r" b="b"/>
            <a:pathLst>
              <a:path w="1953010" h="1953010">
                <a:moveTo>
                  <a:pt x="0" y="0"/>
                </a:moveTo>
                <a:lnTo>
                  <a:pt x="1953010" y="0"/>
                </a:lnTo>
                <a:lnTo>
                  <a:pt x="1953010" y="1953009"/>
                </a:lnTo>
                <a:lnTo>
                  <a:pt x="0" y="1953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C73CA98-9F94-391E-4DB8-081FA701DE1D}"/>
              </a:ext>
            </a:extLst>
          </p:cNvPr>
          <p:cNvSpPr txBox="1"/>
          <p:nvPr/>
        </p:nvSpPr>
        <p:spPr>
          <a:xfrm>
            <a:off x="3169920" y="-190500"/>
            <a:ext cx="14722622" cy="1117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KẾT QUẢ TRUY VẤN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1236DA1-A952-1356-4C15-E3D851F8DDCC}"/>
              </a:ext>
            </a:extLst>
          </p:cNvPr>
          <p:cNvGrpSpPr/>
          <p:nvPr/>
        </p:nvGrpSpPr>
        <p:grpSpPr>
          <a:xfrm>
            <a:off x="111146" y="0"/>
            <a:ext cx="2798184" cy="1388542"/>
            <a:chOff x="0" y="0"/>
            <a:chExt cx="3730912" cy="185138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2AAD1F3-093C-AB26-8430-2371747A89C4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9267290-30EE-EFED-9D6D-AEAD491B1DF2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3" name="TextBox 6">
            <a:extLst>
              <a:ext uri="{FF2B5EF4-FFF2-40B4-BE49-F238E27FC236}">
                <a16:creationId xmlns:a16="http://schemas.microsoft.com/office/drawing/2014/main" id="{AC851353-C8A4-172E-A94B-AAD4FAC90EF4}"/>
              </a:ext>
            </a:extLst>
          </p:cNvPr>
          <p:cNvSpPr txBox="1"/>
          <p:nvPr/>
        </p:nvSpPr>
        <p:spPr>
          <a:xfrm>
            <a:off x="1047863" y="8267700"/>
            <a:ext cx="15159572" cy="987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993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Kết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quả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truy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vấn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mục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đích</a:t>
            </a:r>
            <a:r>
              <a:rPr lang="en-US" sz="3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ruy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3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C031D31B-832D-2204-9801-505B8208E325}"/>
              </a:ext>
            </a:extLst>
          </p:cNvPr>
          <p:cNvSpPr txBox="1"/>
          <p:nvPr/>
        </p:nvSpPr>
        <p:spPr>
          <a:xfrm>
            <a:off x="627130" y="998694"/>
            <a:ext cx="12937808" cy="48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2.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Các ADE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cơ-xương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42932CC4-6379-3B25-791E-0F9CB9E596E3}"/>
              </a:ext>
            </a:extLst>
          </p:cNvPr>
          <p:cNvSpPr/>
          <p:nvPr/>
        </p:nvSpPr>
        <p:spPr>
          <a:xfrm>
            <a:off x="16150172" y="92274"/>
            <a:ext cx="1974988" cy="2126501"/>
          </a:xfrm>
          <a:custGeom>
            <a:avLst/>
            <a:gdLst/>
            <a:ahLst/>
            <a:cxnLst/>
            <a:rect l="l" t="t" r="r" b="b"/>
            <a:pathLst>
              <a:path w="1974988" h="2126501">
                <a:moveTo>
                  <a:pt x="0" y="0"/>
                </a:moveTo>
                <a:lnTo>
                  <a:pt x="1974988" y="0"/>
                </a:lnTo>
                <a:lnTo>
                  <a:pt x="1974988" y="2126501"/>
                </a:lnTo>
                <a:lnTo>
                  <a:pt x="0" y="21265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A3E00D-D44E-5750-0C99-4C067A9B73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7400" y="1558404"/>
            <a:ext cx="13140498" cy="638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297"/>
      </p:ext>
    </p:extLst>
  </p:cSld>
  <p:clrMapOvr>
    <a:masterClrMapping/>
  </p:clrMapOvr>
  <p:transition spd="slow">
    <p:cover dir="l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F7D1-7050-9783-E5A6-BCF07CAD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>
            <a:extLst>
              <a:ext uri="{FF2B5EF4-FFF2-40B4-BE49-F238E27FC236}">
                <a16:creationId xmlns:a16="http://schemas.microsoft.com/office/drawing/2014/main" id="{30FD83A9-DD9E-2697-2AC2-7A0E3DD031CE}"/>
              </a:ext>
            </a:extLst>
          </p:cNvPr>
          <p:cNvSpPr txBox="1"/>
          <p:nvPr/>
        </p:nvSpPr>
        <p:spPr>
          <a:xfrm>
            <a:off x="4114800" y="-190500"/>
            <a:ext cx="10259531" cy="111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GIAO </a:t>
            </a:r>
            <a:r>
              <a:rPr lang="vi-VN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DIỆN</a:t>
            </a: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ỨNG DỤNG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07AAFC02-2776-C9B9-11B0-B9B47C87E2F8}"/>
              </a:ext>
            </a:extLst>
          </p:cNvPr>
          <p:cNvGrpSpPr/>
          <p:nvPr/>
        </p:nvGrpSpPr>
        <p:grpSpPr>
          <a:xfrm>
            <a:off x="152400" y="0"/>
            <a:ext cx="2743200" cy="1299803"/>
            <a:chOff x="0" y="0"/>
            <a:chExt cx="3730912" cy="1851389"/>
          </a:xfrm>
        </p:grpSpPr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B414607A-AFA5-AFCA-9B92-8A86B1EE1533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6E6BBAED-CB17-1EF0-8E32-2C0E8E3696EB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Freeform 2">
            <a:extLst>
              <a:ext uri="{FF2B5EF4-FFF2-40B4-BE49-F238E27FC236}">
                <a16:creationId xmlns:a16="http://schemas.microsoft.com/office/drawing/2014/main" id="{4E3398FF-6D47-450E-CA49-17FBE25AA255}"/>
              </a:ext>
            </a:extLst>
          </p:cNvPr>
          <p:cNvSpPr/>
          <p:nvPr/>
        </p:nvSpPr>
        <p:spPr>
          <a:xfrm>
            <a:off x="16742296" y="-620328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22C2C-24C5-8683-3BAC-F2B216608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6684" y="1714500"/>
            <a:ext cx="18341368" cy="84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25634"/>
      </p:ext>
    </p:extLst>
  </p:cSld>
  <p:clrMapOvr>
    <a:masterClrMapping/>
  </p:clrMapOvr>
  <p:transition spd="slow">
    <p:cover dir="l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6543-1EA2-EF59-B8A8-0AF1E4EA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>
            <a:extLst>
              <a:ext uri="{FF2B5EF4-FFF2-40B4-BE49-F238E27FC236}">
                <a16:creationId xmlns:a16="http://schemas.microsoft.com/office/drawing/2014/main" id="{CB903C8D-D38B-6EC5-D54E-EA883545369C}"/>
              </a:ext>
            </a:extLst>
          </p:cNvPr>
          <p:cNvSpPr txBox="1"/>
          <p:nvPr/>
        </p:nvSpPr>
        <p:spPr>
          <a:xfrm>
            <a:off x="4114800" y="-190500"/>
            <a:ext cx="10259531" cy="111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GIAO </a:t>
            </a:r>
            <a:r>
              <a:rPr lang="vi-VN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DIỆN</a:t>
            </a: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ỨNG DỤNG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65C4DE89-EFBD-0073-F98F-3B72D22DF6F9}"/>
              </a:ext>
            </a:extLst>
          </p:cNvPr>
          <p:cNvGrpSpPr/>
          <p:nvPr/>
        </p:nvGrpSpPr>
        <p:grpSpPr>
          <a:xfrm>
            <a:off x="152400" y="0"/>
            <a:ext cx="2743200" cy="1299803"/>
            <a:chOff x="0" y="0"/>
            <a:chExt cx="3730912" cy="1851389"/>
          </a:xfrm>
        </p:grpSpPr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182D8A2F-365C-766B-BDC3-705E2D4AD9DA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0BADFE8E-E391-FC27-DC6C-D29BA8DFCE69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Freeform 2">
            <a:extLst>
              <a:ext uri="{FF2B5EF4-FFF2-40B4-BE49-F238E27FC236}">
                <a16:creationId xmlns:a16="http://schemas.microsoft.com/office/drawing/2014/main" id="{5BD2158E-A655-A12D-7016-97BB970E6213}"/>
              </a:ext>
            </a:extLst>
          </p:cNvPr>
          <p:cNvSpPr/>
          <p:nvPr/>
        </p:nvSpPr>
        <p:spPr>
          <a:xfrm>
            <a:off x="16742296" y="-620328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628F5BD-DE4A-B774-A72E-3B8897A346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51" y="1447800"/>
            <a:ext cx="18213556" cy="823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30191"/>
      </p:ext>
    </p:extLst>
  </p:cSld>
  <p:clrMapOvr>
    <a:masterClrMapping/>
  </p:clrMapOvr>
  <p:transition spd="slow">
    <p:cover dir="l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E88CF-F105-3D6E-3BA6-1C23F3C8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>
            <a:extLst>
              <a:ext uri="{FF2B5EF4-FFF2-40B4-BE49-F238E27FC236}">
                <a16:creationId xmlns:a16="http://schemas.microsoft.com/office/drawing/2014/main" id="{F6FEF2FC-5C29-A8D8-6228-886265DA0F98}"/>
              </a:ext>
            </a:extLst>
          </p:cNvPr>
          <p:cNvSpPr txBox="1"/>
          <p:nvPr/>
        </p:nvSpPr>
        <p:spPr>
          <a:xfrm>
            <a:off x="4114800" y="-190500"/>
            <a:ext cx="10259531" cy="111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GIAO </a:t>
            </a:r>
            <a:r>
              <a:rPr lang="vi-VN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DIỆN</a:t>
            </a: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ỨNG DỤNG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E81600D5-98E1-ADE0-1B46-2BA435CE1EBB}"/>
              </a:ext>
            </a:extLst>
          </p:cNvPr>
          <p:cNvGrpSpPr/>
          <p:nvPr/>
        </p:nvGrpSpPr>
        <p:grpSpPr>
          <a:xfrm>
            <a:off x="-15707" y="0"/>
            <a:ext cx="1923359" cy="927242"/>
            <a:chOff x="0" y="0"/>
            <a:chExt cx="3730912" cy="1851389"/>
          </a:xfrm>
        </p:grpSpPr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A89DED9B-049A-D405-75FB-A7E98C587105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F0AB9610-13BA-1EAF-79B8-5EBC9F22FD58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Freeform 2">
            <a:extLst>
              <a:ext uri="{FF2B5EF4-FFF2-40B4-BE49-F238E27FC236}">
                <a16:creationId xmlns:a16="http://schemas.microsoft.com/office/drawing/2014/main" id="{4E288817-E994-121E-D52A-8B814E540D05}"/>
              </a:ext>
            </a:extLst>
          </p:cNvPr>
          <p:cNvSpPr/>
          <p:nvPr/>
        </p:nvSpPr>
        <p:spPr>
          <a:xfrm>
            <a:off x="17001661" y="-1224564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7D0DC81-D5B2-D39D-EF91-E9096901C0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656" y="5886597"/>
            <a:ext cx="17833359" cy="41502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53BB82D-0412-ADDF-50F8-BDF077EB92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313" y="898788"/>
            <a:ext cx="17233371" cy="538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143"/>
      </p:ext>
    </p:extLst>
  </p:cSld>
  <p:clrMapOvr>
    <a:masterClrMapping/>
  </p:clrMapOvr>
  <p:transition spd="slow">
    <p:cover dir="l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F090-EB0E-DFB6-21F9-E8AFE7D21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>
            <a:extLst>
              <a:ext uri="{FF2B5EF4-FFF2-40B4-BE49-F238E27FC236}">
                <a16:creationId xmlns:a16="http://schemas.microsoft.com/office/drawing/2014/main" id="{CA46653C-C740-3930-B8B9-90C2853FB6A1}"/>
              </a:ext>
            </a:extLst>
          </p:cNvPr>
          <p:cNvSpPr txBox="1"/>
          <p:nvPr/>
        </p:nvSpPr>
        <p:spPr>
          <a:xfrm>
            <a:off x="4114800" y="-190500"/>
            <a:ext cx="10259531" cy="111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GIAO </a:t>
            </a:r>
            <a:r>
              <a:rPr lang="vi-VN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DIỆN</a:t>
            </a: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ỨNG DỤNG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EC7683ED-982C-FFB2-D4D1-11D8552F9533}"/>
              </a:ext>
            </a:extLst>
          </p:cNvPr>
          <p:cNvGrpSpPr/>
          <p:nvPr/>
        </p:nvGrpSpPr>
        <p:grpSpPr>
          <a:xfrm>
            <a:off x="152400" y="0"/>
            <a:ext cx="2743200" cy="1299803"/>
            <a:chOff x="0" y="0"/>
            <a:chExt cx="3730912" cy="1851389"/>
          </a:xfrm>
        </p:grpSpPr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D993623C-4230-D27B-334B-344491AF5B15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913E178E-BAA7-C5C2-C920-71DDE7B73724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Freeform 2">
            <a:extLst>
              <a:ext uri="{FF2B5EF4-FFF2-40B4-BE49-F238E27FC236}">
                <a16:creationId xmlns:a16="http://schemas.microsoft.com/office/drawing/2014/main" id="{2E4134B5-84CD-7B9F-09C7-C93E05EF43D0}"/>
              </a:ext>
            </a:extLst>
          </p:cNvPr>
          <p:cNvSpPr/>
          <p:nvPr/>
        </p:nvSpPr>
        <p:spPr>
          <a:xfrm>
            <a:off x="16742296" y="-620328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77AD69F-A842-789B-CBD0-4EC7C2A05A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1438637"/>
            <a:ext cx="17426243" cy="812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83668"/>
      </p:ext>
    </p:extLst>
  </p:cSld>
  <p:clrMapOvr>
    <a:masterClrMapping/>
  </p:clrMapOvr>
  <p:transition spd="slow">
    <p:cover dir="l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7AC5-4C88-695B-83C0-34DDC786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>
            <a:extLst>
              <a:ext uri="{FF2B5EF4-FFF2-40B4-BE49-F238E27FC236}">
                <a16:creationId xmlns:a16="http://schemas.microsoft.com/office/drawing/2014/main" id="{BC6337CF-50D4-920C-55A1-3BB38EC8CD0D}"/>
              </a:ext>
            </a:extLst>
          </p:cNvPr>
          <p:cNvSpPr txBox="1"/>
          <p:nvPr/>
        </p:nvSpPr>
        <p:spPr>
          <a:xfrm>
            <a:off x="4114800" y="-190500"/>
            <a:ext cx="10259531" cy="111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GIAO </a:t>
            </a:r>
            <a:r>
              <a:rPr lang="vi-VN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DIỆN</a:t>
            </a: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ỨNG DỤNG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B71C7913-F8A1-964A-3F35-3D9AD31A7DE2}"/>
              </a:ext>
            </a:extLst>
          </p:cNvPr>
          <p:cNvGrpSpPr/>
          <p:nvPr/>
        </p:nvGrpSpPr>
        <p:grpSpPr>
          <a:xfrm>
            <a:off x="152400" y="0"/>
            <a:ext cx="2743200" cy="1299803"/>
            <a:chOff x="0" y="0"/>
            <a:chExt cx="3730912" cy="1851389"/>
          </a:xfrm>
        </p:grpSpPr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8B5608BA-C0AB-8B95-059C-B1DC77B901F1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6D663BA0-65D6-0527-3C42-91D1341364DC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Freeform 2">
            <a:extLst>
              <a:ext uri="{FF2B5EF4-FFF2-40B4-BE49-F238E27FC236}">
                <a16:creationId xmlns:a16="http://schemas.microsoft.com/office/drawing/2014/main" id="{D880E4B5-A9B5-FC81-C02F-AC7CDE3DBE65}"/>
              </a:ext>
            </a:extLst>
          </p:cNvPr>
          <p:cNvSpPr/>
          <p:nvPr/>
        </p:nvSpPr>
        <p:spPr>
          <a:xfrm>
            <a:off x="16742296" y="-620328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1987F-6DF9-821A-ED94-FEF2E63BAD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662" y="1409700"/>
            <a:ext cx="17717738" cy="831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38003"/>
      </p:ext>
    </p:extLst>
  </p:cSld>
  <p:clrMapOvr>
    <a:masterClrMapping/>
  </p:clrMapOvr>
  <p:transition spd="slow">
    <p:cover dir="l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1AB87-08D2-EC22-B7E4-4EBA694E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>
            <a:extLst>
              <a:ext uri="{FF2B5EF4-FFF2-40B4-BE49-F238E27FC236}">
                <a16:creationId xmlns:a16="http://schemas.microsoft.com/office/drawing/2014/main" id="{E1FB7490-E11B-97F2-46D8-1A341DE09962}"/>
              </a:ext>
            </a:extLst>
          </p:cNvPr>
          <p:cNvSpPr txBox="1"/>
          <p:nvPr/>
        </p:nvSpPr>
        <p:spPr>
          <a:xfrm>
            <a:off x="4114800" y="-190500"/>
            <a:ext cx="10259531" cy="111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GIAO </a:t>
            </a:r>
            <a:r>
              <a:rPr lang="vi-VN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DIỆN</a:t>
            </a: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ỨNG DỤNG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DC4EA725-0446-2276-557A-59CEAD8B084B}"/>
              </a:ext>
            </a:extLst>
          </p:cNvPr>
          <p:cNvGrpSpPr/>
          <p:nvPr/>
        </p:nvGrpSpPr>
        <p:grpSpPr>
          <a:xfrm>
            <a:off x="152400" y="0"/>
            <a:ext cx="2743200" cy="1299803"/>
            <a:chOff x="0" y="0"/>
            <a:chExt cx="3730912" cy="1851389"/>
          </a:xfrm>
        </p:grpSpPr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FC63CFB0-D559-6A8A-57FB-DC51628B3DF0}"/>
                </a:ext>
              </a:extLst>
            </p:cNvPr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E3C978FF-092C-325B-DDD2-2FBCFC6653AB}"/>
                </a:ext>
              </a:extLst>
            </p:cNvPr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Freeform 2">
            <a:extLst>
              <a:ext uri="{FF2B5EF4-FFF2-40B4-BE49-F238E27FC236}">
                <a16:creationId xmlns:a16="http://schemas.microsoft.com/office/drawing/2014/main" id="{E92B6F25-CF87-79BC-FC56-109679E85FC8}"/>
              </a:ext>
            </a:extLst>
          </p:cNvPr>
          <p:cNvSpPr/>
          <p:nvPr/>
        </p:nvSpPr>
        <p:spPr>
          <a:xfrm>
            <a:off x="16742296" y="-620328"/>
            <a:ext cx="1923359" cy="2068128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F6FDCE-0A51-BC7D-889E-13341184F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19" y="1447800"/>
            <a:ext cx="17644362" cy="845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79478"/>
      </p:ext>
    </p:extLst>
  </p:cSld>
  <p:clrMapOvr>
    <a:masterClrMapping/>
  </p:clrMapOvr>
  <p:transition spd="slow">
    <p:cover dir="l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407" y="1587983"/>
            <a:ext cx="8234593" cy="1767580"/>
            <a:chOff x="0" y="0"/>
            <a:chExt cx="10754866" cy="2356773"/>
          </a:xfrm>
        </p:grpSpPr>
        <p:grpSp>
          <p:nvGrpSpPr>
            <p:cNvPr id="3" name="Group 3"/>
            <p:cNvGrpSpPr/>
            <p:nvPr/>
          </p:nvGrpSpPr>
          <p:grpSpPr>
            <a:xfrm>
              <a:off x="527087" y="641841"/>
              <a:ext cx="10227779" cy="1714932"/>
              <a:chOff x="0" y="0"/>
              <a:chExt cx="2020302" cy="33875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020302" cy="338752"/>
              </a:xfrm>
              <a:custGeom>
                <a:avLst/>
                <a:gdLst/>
                <a:ahLst/>
                <a:cxnLst/>
                <a:rect l="l" t="t" r="r" b="b"/>
                <a:pathLst>
                  <a:path w="2020302" h="338752">
                    <a:moveTo>
                      <a:pt x="51473" y="0"/>
                    </a:moveTo>
                    <a:lnTo>
                      <a:pt x="1968829" y="0"/>
                    </a:lnTo>
                    <a:cubicBezTo>
                      <a:pt x="1982481" y="0"/>
                      <a:pt x="1995573" y="5423"/>
                      <a:pt x="2005226" y="15076"/>
                    </a:cubicBezTo>
                    <a:cubicBezTo>
                      <a:pt x="2014879" y="24729"/>
                      <a:pt x="2020302" y="37821"/>
                      <a:pt x="2020302" y="51473"/>
                    </a:cubicBezTo>
                    <a:lnTo>
                      <a:pt x="2020302" y="287279"/>
                    </a:lnTo>
                    <a:cubicBezTo>
                      <a:pt x="2020302" y="300931"/>
                      <a:pt x="2014879" y="314023"/>
                      <a:pt x="2005226" y="323676"/>
                    </a:cubicBezTo>
                    <a:cubicBezTo>
                      <a:pt x="1995573" y="333329"/>
                      <a:pt x="1982481" y="338752"/>
                      <a:pt x="1968829" y="338752"/>
                    </a:cubicBezTo>
                    <a:lnTo>
                      <a:pt x="51473" y="338752"/>
                    </a:lnTo>
                    <a:cubicBezTo>
                      <a:pt x="37821" y="338752"/>
                      <a:pt x="24729" y="333329"/>
                      <a:pt x="15076" y="323676"/>
                    </a:cubicBezTo>
                    <a:cubicBezTo>
                      <a:pt x="5423" y="314023"/>
                      <a:pt x="0" y="300931"/>
                      <a:pt x="0" y="287279"/>
                    </a:cubicBezTo>
                    <a:lnTo>
                      <a:pt x="0" y="51473"/>
                    </a:lnTo>
                    <a:cubicBezTo>
                      <a:pt x="0" y="37821"/>
                      <a:pt x="5423" y="24729"/>
                      <a:pt x="15076" y="15076"/>
                    </a:cubicBezTo>
                    <a:cubicBezTo>
                      <a:pt x="24729" y="5423"/>
                      <a:pt x="37821" y="0"/>
                      <a:pt x="51473" y="0"/>
                    </a:cubicBezTo>
                    <a:close/>
                  </a:path>
                </a:pathLst>
              </a:custGeom>
              <a:solidFill>
                <a:srgbClr val="245095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57150"/>
                <a:ext cx="2020302" cy="395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3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767149" y="1126243"/>
              <a:ext cx="7973747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KẾT QUẢ ĐÓNG GÓP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0" y="0"/>
              <a:ext cx="1499306" cy="1499306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5DC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3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373064" y="373064"/>
              <a:ext cx="753179" cy="753179"/>
            </a:xfrm>
            <a:custGeom>
              <a:avLst/>
              <a:gdLst/>
              <a:ahLst/>
              <a:cxnLst/>
              <a:rect l="l" t="t" r="r" b="b"/>
              <a:pathLst>
                <a:path w="753179" h="753179">
                  <a:moveTo>
                    <a:pt x="0" y="0"/>
                  </a:moveTo>
                  <a:lnTo>
                    <a:pt x="753179" y="0"/>
                  </a:lnTo>
                  <a:lnTo>
                    <a:pt x="753179" y="753179"/>
                  </a:lnTo>
                  <a:lnTo>
                    <a:pt x="0" y="75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7827636" y="8231923"/>
            <a:ext cx="1974988" cy="2126501"/>
          </a:xfrm>
          <a:custGeom>
            <a:avLst/>
            <a:gdLst/>
            <a:ahLst/>
            <a:cxnLst/>
            <a:rect l="l" t="t" r="r" b="b"/>
            <a:pathLst>
              <a:path w="1974988" h="2126501">
                <a:moveTo>
                  <a:pt x="0" y="0"/>
                </a:moveTo>
                <a:lnTo>
                  <a:pt x="1974988" y="0"/>
                </a:lnTo>
                <a:lnTo>
                  <a:pt x="1974988" y="2126501"/>
                </a:lnTo>
                <a:lnTo>
                  <a:pt x="0" y="2126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14235" y="346075"/>
            <a:ext cx="10259531" cy="114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KẾT QUẢ VÀ HẠN CHẾ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4048" y="3471715"/>
            <a:ext cx="7839278" cy="6172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just">
              <a:lnSpc>
                <a:spcPts val="449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Xây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dựng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được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nhận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dạng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thực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thể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NER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trích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xuất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tạo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cặp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Drug – ADE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thiết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kế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ontology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đồ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thị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tri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thức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  <a:p>
            <a:pPr marL="539749" lvl="1" indent="-269875" algn="just">
              <a:lnSpc>
                <a:spcPts val="449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Triển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khai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đánh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giá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so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sánh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mô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NER baseline, BERT, Relation Extraction,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đồ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thị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tri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thức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có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ngữ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cảnh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không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ngữ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cảnh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  <a:p>
            <a:pPr marL="539749" lvl="1" indent="-269875" algn="just">
              <a:lnSpc>
                <a:spcPts val="449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Thực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hiện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xây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dựng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tạo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Knowledge Graph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câu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truy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vấn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tri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thức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thành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công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  <a:p>
            <a:pPr marL="539749" lvl="1" indent="-269875" algn="just">
              <a:lnSpc>
                <a:spcPts val="449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Hệ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thống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hỗ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được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streamlit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ứng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dụng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cứu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tìm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kiếm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của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thuốc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với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phản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ứng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dụng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phụ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17472" y="3471715"/>
            <a:ext cx="7636278" cy="6172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just">
              <a:lnSpc>
                <a:spcPts val="449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Chưa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xử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lý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tốt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chuẩn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hoá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tên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lại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đúng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dạng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chuẩn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Normalization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từ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điển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còn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thấp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chưa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xử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lý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  <a:endParaRPr lang="en-US" dirty="0"/>
          </a:p>
          <a:p>
            <a:pPr marL="539749" lvl="1" indent="-269875" algn="just">
              <a:lnSpc>
                <a:spcPts val="449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Chất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lượng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đánh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giá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mô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BERT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chưa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đạt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tối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ưu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cao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chỉ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mới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ở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mức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thử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nghiệm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BERT.</a:t>
            </a:r>
          </a:p>
          <a:p>
            <a:pPr marL="539749" lvl="1" indent="-269875" algn="just">
              <a:lnSpc>
                <a:spcPts val="449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Mô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Relation Extraction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hiện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tại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còn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yếu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chỉ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tạo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cặp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Drug – ADE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chưa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phải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mô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học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sâu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nên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hiệu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còn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thấp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  <a:p>
            <a:pPr marL="539749" lvl="1" indent="-269875" algn="just">
              <a:lnSpc>
                <a:spcPts val="449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Tập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dữ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liệu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còn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giới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hạn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chưa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mở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rộng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trên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tập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dữ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liệu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khác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761487" y="1587983"/>
            <a:ext cx="8066149" cy="1767580"/>
            <a:chOff x="0" y="0"/>
            <a:chExt cx="10754866" cy="2356773"/>
          </a:xfrm>
        </p:grpSpPr>
        <p:grpSp>
          <p:nvGrpSpPr>
            <p:cNvPr id="16" name="Group 16"/>
            <p:cNvGrpSpPr/>
            <p:nvPr/>
          </p:nvGrpSpPr>
          <p:grpSpPr>
            <a:xfrm>
              <a:off x="527087" y="641841"/>
              <a:ext cx="10227779" cy="1714932"/>
              <a:chOff x="0" y="0"/>
              <a:chExt cx="2020302" cy="33875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020302" cy="338752"/>
              </a:xfrm>
              <a:custGeom>
                <a:avLst/>
                <a:gdLst/>
                <a:ahLst/>
                <a:cxnLst/>
                <a:rect l="l" t="t" r="r" b="b"/>
                <a:pathLst>
                  <a:path w="2020302" h="338752">
                    <a:moveTo>
                      <a:pt x="51473" y="0"/>
                    </a:moveTo>
                    <a:lnTo>
                      <a:pt x="1968829" y="0"/>
                    </a:lnTo>
                    <a:cubicBezTo>
                      <a:pt x="1982481" y="0"/>
                      <a:pt x="1995573" y="5423"/>
                      <a:pt x="2005226" y="15076"/>
                    </a:cubicBezTo>
                    <a:cubicBezTo>
                      <a:pt x="2014879" y="24729"/>
                      <a:pt x="2020302" y="37821"/>
                      <a:pt x="2020302" y="51473"/>
                    </a:cubicBezTo>
                    <a:lnTo>
                      <a:pt x="2020302" y="287279"/>
                    </a:lnTo>
                    <a:cubicBezTo>
                      <a:pt x="2020302" y="300931"/>
                      <a:pt x="2014879" y="314023"/>
                      <a:pt x="2005226" y="323676"/>
                    </a:cubicBezTo>
                    <a:cubicBezTo>
                      <a:pt x="1995573" y="333329"/>
                      <a:pt x="1982481" y="338752"/>
                      <a:pt x="1968829" y="338752"/>
                    </a:cubicBezTo>
                    <a:lnTo>
                      <a:pt x="51473" y="338752"/>
                    </a:lnTo>
                    <a:cubicBezTo>
                      <a:pt x="37821" y="338752"/>
                      <a:pt x="24729" y="333329"/>
                      <a:pt x="15076" y="323676"/>
                    </a:cubicBezTo>
                    <a:cubicBezTo>
                      <a:pt x="5423" y="314023"/>
                      <a:pt x="0" y="300931"/>
                      <a:pt x="0" y="287279"/>
                    </a:cubicBezTo>
                    <a:lnTo>
                      <a:pt x="0" y="51473"/>
                    </a:lnTo>
                    <a:cubicBezTo>
                      <a:pt x="0" y="37821"/>
                      <a:pt x="5423" y="24729"/>
                      <a:pt x="15076" y="15076"/>
                    </a:cubicBezTo>
                    <a:cubicBezTo>
                      <a:pt x="24729" y="5423"/>
                      <a:pt x="37821" y="0"/>
                      <a:pt x="51473" y="0"/>
                    </a:cubicBezTo>
                    <a:close/>
                  </a:path>
                </a:pathLst>
              </a:custGeom>
              <a:solidFill>
                <a:srgbClr val="245095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020302" cy="395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785912" y="1159371"/>
              <a:ext cx="7973747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Open Sans Bold"/>
                  <a:cs typeface="Times New Roman" panose="02020603050405020304" pitchFamily="18" charset="0"/>
                  <a:sym typeface="Open Sans Bold"/>
                </a:rPr>
                <a:t>HẠN CHẾ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0" y="0"/>
              <a:ext cx="1499306" cy="1499306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5DC8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3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373064" y="373064"/>
              <a:ext cx="753179" cy="753179"/>
            </a:xfrm>
            <a:custGeom>
              <a:avLst/>
              <a:gdLst/>
              <a:ahLst/>
              <a:cxnLst/>
              <a:rect l="l" t="t" r="r" b="b"/>
              <a:pathLst>
                <a:path w="753179" h="753179">
                  <a:moveTo>
                    <a:pt x="0" y="0"/>
                  </a:moveTo>
                  <a:lnTo>
                    <a:pt x="753179" y="0"/>
                  </a:lnTo>
                  <a:lnTo>
                    <a:pt x="753179" y="753179"/>
                  </a:lnTo>
                  <a:lnTo>
                    <a:pt x="0" y="75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5163800" y="129639"/>
            <a:ext cx="3011931" cy="1606581"/>
            <a:chOff x="0" y="0"/>
            <a:chExt cx="3730912" cy="185138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7" name="Freeform 2">
            <a:extLst>
              <a:ext uri="{FF2B5EF4-FFF2-40B4-BE49-F238E27FC236}">
                <a16:creationId xmlns:a16="http://schemas.microsoft.com/office/drawing/2014/main" id="{73F0AE65-A0B6-6BE4-7E1B-D55727C13772}"/>
              </a:ext>
            </a:extLst>
          </p:cNvPr>
          <p:cNvSpPr/>
          <p:nvPr/>
        </p:nvSpPr>
        <p:spPr>
          <a:xfrm rot="10800000">
            <a:off x="0" y="-1266144"/>
            <a:ext cx="2590800" cy="2725847"/>
          </a:xfrm>
          <a:custGeom>
            <a:avLst/>
            <a:gdLst/>
            <a:ahLst/>
            <a:cxnLst/>
            <a:rect l="l" t="t" r="r" b="b"/>
            <a:pathLst>
              <a:path w="1923359" h="2068128">
                <a:moveTo>
                  <a:pt x="0" y="0"/>
                </a:moveTo>
                <a:lnTo>
                  <a:pt x="1923359" y="0"/>
                </a:lnTo>
                <a:lnTo>
                  <a:pt x="1923359" y="2068128"/>
                </a:lnTo>
                <a:lnTo>
                  <a:pt x="0" y="20681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cover dir="l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010"/>
            <a:ext cx="1927028" cy="1963850"/>
          </a:xfrm>
          <a:custGeom>
            <a:avLst/>
            <a:gdLst/>
            <a:ahLst/>
            <a:cxnLst/>
            <a:rect l="l" t="t" r="r" b="b"/>
            <a:pathLst>
              <a:path w="1927028" h="1963850">
                <a:moveTo>
                  <a:pt x="0" y="0"/>
                </a:moveTo>
                <a:lnTo>
                  <a:pt x="1927028" y="0"/>
                </a:lnTo>
                <a:lnTo>
                  <a:pt x="1927028" y="1963849"/>
                </a:lnTo>
                <a:lnTo>
                  <a:pt x="0" y="1963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21562" y="8276375"/>
            <a:ext cx="1875477" cy="1963850"/>
          </a:xfrm>
          <a:custGeom>
            <a:avLst/>
            <a:gdLst/>
            <a:ahLst/>
            <a:cxnLst/>
            <a:rect l="l" t="t" r="r" b="b"/>
            <a:pathLst>
              <a:path w="1875477" h="1963850">
                <a:moveTo>
                  <a:pt x="0" y="0"/>
                </a:moveTo>
                <a:lnTo>
                  <a:pt x="1875476" y="0"/>
                </a:lnTo>
                <a:lnTo>
                  <a:pt x="1875476" y="1963850"/>
                </a:lnTo>
                <a:lnTo>
                  <a:pt x="0" y="1963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83283" y="8456203"/>
            <a:ext cx="1784022" cy="1784022"/>
          </a:xfrm>
          <a:custGeom>
            <a:avLst/>
            <a:gdLst/>
            <a:ahLst/>
            <a:cxnLst/>
            <a:rect l="l" t="t" r="r" b="b"/>
            <a:pathLst>
              <a:path w="1784022" h="1784022">
                <a:moveTo>
                  <a:pt x="1784022" y="1784022"/>
                </a:moveTo>
                <a:lnTo>
                  <a:pt x="0" y="1784022"/>
                </a:lnTo>
                <a:lnTo>
                  <a:pt x="0" y="0"/>
                </a:lnTo>
                <a:lnTo>
                  <a:pt x="1784022" y="0"/>
                </a:lnTo>
                <a:lnTo>
                  <a:pt x="1784022" y="1784022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11000" y="2284749"/>
            <a:ext cx="6329042" cy="5991626"/>
          </a:xfrm>
          <a:custGeom>
            <a:avLst/>
            <a:gdLst/>
            <a:ahLst/>
            <a:cxnLst/>
            <a:rect l="l" t="t" r="r" b="b"/>
            <a:pathLst>
              <a:path w="6207717" h="5991626">
                <a:moveTo>
                  <a:pt x="0" y="0"/>
                </a:moveTo>
                <a:lnTo>
                  <a:pt x="6207717" y="0"/>
                </a:lnTo>
                <a:lnTo>
                  <a:pt x="6207717" y="5991626"/>
                </a:lnTo>
                <a:lnTo>
                  <a:pt x="0" y="5991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33800" y="447509"/>
            <a:ext cx="9406963" cy="1107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HƯỚNG</a:t>
            </a:r>
            <a:r>
              <a:rPr lang="en-US" sz="50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PHÁT TRIỂN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8200" y="2830367"/>
            <a:ext cx="10744200" cy="5216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9" lvl="1" indent="-280669" algn="just">
              <a:lnSpc>
                <a:spcPts val="467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Cải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thiện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phương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pháp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mô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huấn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luyện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BioBERT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hoặc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ClinicalBERT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để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tăng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hiệu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xuất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NER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RE.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1339" lvl="1" indent="-280669" algn="just">
              <a:lnSpc>
                <a:spcPts val="467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Phát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triển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chuẩn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hoá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để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đúng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dạng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chuẩn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y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sinh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UMLS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hoặc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SNOMED CT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để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mở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rộng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symnonym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dictionary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tự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động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 </a:t>
            </a:r>
          </a:p>
          <a:p>
            <a:pPr marL="561339" lvl="1" indent="-280669" algn="just">
              <a:lnSpc>
                <a:spcPts val="467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Nâng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cấp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giao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diện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người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dùng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với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Streamlit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trực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quan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hơn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</a:p>
          <a:p>
            <a:pPr marL="561339" lvl="1" indent="-280669" algn="just">
              <a:lnSpc>
                <a:spcPts val="467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Triển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khai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(TransE,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(embedding)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554200" y="185106"/>
            <a:ext cx="3585842" cy="1859437"/>
            <a:chOff x="0" y="0"/>
            <a:chExt cx="3730912" cy="18513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</p:spTree>
  </p:cSld>
  <p:clrMapOvr>
    <a:masterClrMapping/>
  </p:clrMapOvr>
  <p:transition spd="slow">
    <p:cover dir="l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804316" y="6933710"/>
            <a:ext cx="3008661" cy="3239473"/>
          </a:xfrm>
          <a:custGeom>
            <a:avLst/>
            <a:gdLst/>
            <a:ahLst/>
            <a:cxnLst/>
            <a:rect l="l" t="t" r="r" b="b"/>
            <a:pathLst>
              <a:path w="3008661" h="3239473">
                <a:moveTo>
                  <a:pt x="3008661" y="3239473"/>
                </a:moveTo>
                <a:lnTo>
                  <a:pt x="0" y="3239473"/>
                </a:lnTo>
                <a:lnTo>
                  <a:pt x="0" y="0"/>
                </a:lnTo>
                <a:lnTo>
                  <a:pt x="3008661" y="0"/>
                </a:lnTo>
                <a:lnTo>
                  <a:pt x="3008661" y="323947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79339" y="39010"/>
            <a:ext cx="3008661" cy="3187985"/>
          </a:xfrm>
          <a:custGeom>
            <a:avLst/>
            <a:gdLst/>
            <a:ahLst/>
            <a:cxnLst/>
            <a:rect l="l" t="t" r="r" b="b"/>
            <a:pathLst>
              <a:path w="3008661" h="3187985">
                <a:moveTo>
                  <a:pt x="0" y="0"/>
                </a:moveTo>
                <a:lnTo>
                  <a:pt x="3008661" y="0"/>
                </a:lnTo>
                <a:lnTo>
                  <a:pt x="3008661" y="3187985"/>
                </a:lnTo>
                <a:lnTo>
                  <a:pt x="0" y="3187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/>
          <p:nvPr/>
        </p:nvGrpSpPr>
        <p:grpSpPr>
          <a:xfrm>
            <a:off x="-3641789" y="10059366"/>
            <a:ext cx="15656274" cy="227634"/>
            <a:chOff x="0" y="0"/>
            <a:chExt cx="4123463" cy="59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23463" cy="59953"/>
            </a:xfrm>
            <a:custGeom>
              <a:avLst/>
              <a:gdLst/>
              <a:ahLst/>
              <a:cxnLst/>
              <a:rect l="l" t="t" r="r" b="b"/>
              <a:pathLst>
                <a:path w="4123463" h="59953">
                  <a:moveTo>
                    <a:pt x="0" y="0"/>
                  </a:moveTo>
                  <a:lnTo>
                    <a:pt x="4123463" y="0"/>
                  </a:lnTo>
                  <a:lnTo>
                    <a:pt x="4123463" y="59953"/>
                  </a:lnTo>
                  <a:lnTo>
                    <a:pt x="0" y="59953"/>
                  </a:lnTo>
                  <a:close/>
                </a:path>
              </a:pathLst>
            </a:custGeom>
            <a:solidFill>
              <a:srgbClr val="2450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123463" cy="11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04900" y="3790770"/>
            <a:ext cx="16078200" cy="2387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vi-VN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CẢM ƠN QUÝ THẦY/CÔ VÀ HỘI ĐỒNG </a:t>
            </a: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vi-VN" sz="5500" b="1" dirty="0">
                <a:solidFill>
                  <a:srgbClr val="245095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ĐÃ LẮNG NGHE PHẦN TRÌNH BÀY CỦA EM</a:t>
            </a:r>
            <a:endParaRPr lang="en-US" sz="5500" b="1" u="none" strike="noStrike" dirty="0">
              <a:solidFill>
                <a:srgbClr val="245095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-503058" y="-10668"/>
            <a:ext cx="7315200" cy="658368"/>
          </a:xfrm>
          <a:custGeom>
            <a:avLst/>
            <a:gdLst/>
            <a:ahLst/>
            <a:cxnLst/>
            <a:rect l="l" t="t" r="r" b="b"/>
            <a:pathLst>
              <a:path w="7315200" h="658368">
                <a:moveTo>
                  <a:pt x="0" y="0"/>
                </a:moveTo>
                <a:lnTo>
                  <a:pt x="7315200" y="0"/>
                </a:lnTo>
                <a:lnTo>
                  <a:pt x="7315200" y="658368"/>
                </a:lnTo>
                <a:lnTo>
                  <a:pt x="0" y="658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-10800000">
            <a:off x="17259300" y="6935755"/>
            <a:ext cx="2507456" cy="3865595"/>
            <a:chOff x="0" y="0"/>
            <a:chExt cx="660400" cy="10180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" cy="1018099"/>
            </a:xfrm>
            <a:custGeom>
              <a:avLst/>
              <a:gdLst/>
              <a:ahLst/>
              <a:cxnLst/>
              <a:rect l="l" t="t" r="r" b="b"/>
              <a:pathLst>
                <a:path w="660400" h="1018099">
                  <a:moveTo>
                    <a:pt x="220252" y="999030"/>
                  </a:moveTo>
                  <a:cubicBezTo>
                    <a:pt x="254109" y="1010544"/>
                    <a:pt x="292600" y="1018099"/>
                    <a:pt x="330378" y="1018099"/>
                  </a:cubicBezTo>
                  <a:cubicBezTo>
                    <a:pt x="368157" y="1018099"/>
                    <a:pt x="404509" y="1011622"/>
                    <a:pt x="438009" y="1000108"/>
                  </a:cubicBezTo>
                  <a:cubicBezTo>
                    <a:pt x="438723" y="999749"/>
                    <a:pt x="439435" y="999749"/>
                    <a:pt x="440148" y="999389"/>
                  </a:cubicBezTo>
                  <a:cubicBezTo>
                    <a:pt x="565955" y="953334"/>
                    <a:pt x="658618" y="831720"/>
                    <a:pt x="660400" y="68503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84528"/>
                  </a:lnTo>
                  <a:cubicBezTo>
                    <a:pt x="1782" y="832439"/>
                    <a:pt x="93019" y="954054"/>
                    <a:pt x="220252" y="99903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28625" cap="sq">
              <a:solidFill>
                <a:srgbClr val="0F3460">
                  <a:alpha val="75686"/>
                </a:srgbClr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660400" cy="948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6358" y="1028700"/>
            <a:ext cx="3910842" cy="1981200"/>
            <a:chOff x="0" y="0"/>
            <a:chExt cx="3730912" cy="18513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48432" cy="1851389"/>
            </a:xfrm>
            <a:custGeom>
              <a:avLst/>
              <a:gdLst/>
              <a:ahLst/>
              <a:cxnLst/>
              <a:rect l="l" t="t" r="r" b="b"/>
              <a:pathLst>
                <a:path w="1848432" h="1851389">
                  <a:moveTo>
                    <a:pt x="0" y="0"/>
                  </a:moveTo>
                  <a:lnTo>
                    <a:pt x="1848432" y="0"/>
                  </a:lnTo>
                  <a:lnTo>
                    <a:pt x="1848432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874248" y="0"/>
              <a:ext cx="1856664" cy="1851389"/>
            </a:xfrm>
            <a:custGeom>
              <a:avLst/>
              <a:gdLst/>
              <a:ahLst/>
              <a:cxnLst/>
              <a:rect l="l" t="t" r="r" b="b"/>
              <a:pathLst>
                <a:path w="1856664" h="1851389">
                  <a:moveTo>
                    <a:pt x="0" y="0"/>
                  </a:moveTo>
                  <a:lnTo>
                    <a:pt x="1856664" y="0"/>
                  </a:lnTo>
                  <a:lnTo>
                    <a:pt x="1856664" y="1851389"/>
                  </a:lnTo>
                  <a:lnTo>
                    <a:pt x="0" y="1851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</p:spTree>
  </p:cSld>
  <p:clrMapOvr>
    <a:masterClrMapping/>
  </p:clrMapOvr>
  <p:transition spd="slow">
    <p:cover dir="l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8193</TotalTime>
  <Words>1641</Words>
  <Application>Microsoft Office PowerPoint</Application>
  <PresentationFormat>Custom</PresentationFormat>
  <Paragraphs>119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Times New Roman</vt:lpstr>
      <vt:lpstr>Wingdings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THUYẾT TRÌNH ĐỀ TÀI TÌM KIẾM ẢNH</dc:title>
  <dc:creator>Admin</dc:creator>
  <cp:lastModifiedBy>Admin</cp:lastModifiedBy>
  <cp:revision>31</cp:revision>
  <dcterms:created xsi:type="dcterms:W3CDTF">2006-08-16T00:00:00Z</dcterms:created>
  <dcterms:modified xsi:type="dcterms:W3CDTF">2026-06-22T13:57:10Z</dcterms:modified>
  <dc:identifier>DAGqBNa16dA</dc:identifier>
</cp:coreProperties>
</file>